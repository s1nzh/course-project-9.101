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notesMasterIdLst>
    <p:notesMasterId r:id="rId150"/>
  </p:notesMasterIdLst>
  <p:sldIdLst>
    <p:sldId id="332" r:id="rId2"/>
    <p:sldId id="478" r:id="rId3"/>
    <p:sldId id="404" r:id="rId4"/>
    <p:sldId id="314" r:id="rId5"/>
    <p:sldId id="427" r:id="rId6"/>
    <p:sldId id="469" r:id="rId7"/>
    <p:sldId id="503" r:id="rId8"/>
    <p:sldId id="507" r:id="rId9"/>
    <p:sldId id="471" r:id="rId10"/>
    <p:sldId id="509" r:id="rId11"/>
    <p:sldId id="508" r:id="rId12"/>
    <p:sldId id="472" r:id="rId13"/>
    <p:sldId id="473" r:id="rId14"/>
    <p:sldId id="474" r:id="rId15"/>
    <p:sldId id="511" r:id="rId16"/>
    <p:sldId id="510" r:id="rId17"/>
    <p:sldId id="494" r:id="rId18"/>
    <p:sldId id="495" r:id="rId19"/>
    <p:sldId id="475" r:id="rId20"/>
    <p:sldId id="512" r:id="rId21"/>
    <p:sldId id="406" r:id="rId22"/>
    <p:sldId id="298" r:id="rId23"/>
    <p:sldId id="492" r:id="rId24"/>
    <p:sldId id="493" r:id="rId25"/>
    <p:sldId id="504" r:id="rId26"/>
    <p:sldId id="324" r:id="rId27"/>
    <p:sldId id="325" r:id="rId28"/>
    <p:sldId id="505" r:id="rId29"/>
    <p:sldId id="479" r:id="rId30"/>
    <p:sldId id="480" r:id="rId31"/>
    <p:sldId id="481" r:id="rId32"/>
    <p:sldId id="482" r:id="rId33"/>
    <p:sldId id="483" r:id="rId34"/>
    <p:sldId id="484" r:id="rId35"/>
    <p:sldId id="485" r:id="rId36"/>
    <p:sldId id="486" r:id="rId37"/>
    <p:sldId id="487" r:id="rId38"/>
    <p:sldId id="488" r:id="rId39"/>
    <p:sldId id="489" r:id="rId40"/>
    <p:sldId id="490" r:id="rId41"/>
    <p:sldId id="317" r:id="rId42"/>
    <p:sldId id="433" r:id="rId43"/>
    <p:sldId id="434" r:id="rId44"/>
    <p:sldId id="360" r:id="rId45"/>
    <p:sldId id="318" r:id="rId46"/>
    <p:sldId id="272" r:id="rId47"/>
    <p:sldId id="373" r:id="rId48"/>
    <p:sldId id="374" r:id="rId49"/>
    <p:sldId id="443" r:id="rId50"/>
    <p:sldId id="381" r:id="rId51"/>
    <p:sldId id="445" r:id="rId52"/>
    <p:sldId id="449" r:id="rId53"/>
    <p:sldId id="463" r:id="rId54"/>
    <p:sldId id="465" r:id="rId55"/>
    <p:sldId id="466" r:id="rId56"/>
    <p:sldId id="498" r:id="rId57"/>
    <p:sldId id="464" r:id="rId58"/>
    <p:sldId id="448" r:id="rId59"/>
    <p:sldId id="450" r:id="rId60"/>
    <p:sldId id="451" r:id="rId61"/>
    <p:sldId id="452" r:id="rId62"/>
    <p:sldId id="453" r:id="rId63"/>
    <p:sldId id="456" r:id="rId64"/>
    <p:sldId id="491" r:id="rId65"/>
    <p:sldId id="457" r:id="rId66"/>
    <p:sldId id="375" r:id="rId67"/>
    <p:sldId id="458" r:id="rId68"/>
    <p:sldId id="390" r:id="rId69"/>
    <p:sldId id="397" r:id="rId70"/>
    <p:sldId id="398" r:id="rId71"/>
    <p:sldId id="399" r:id="rId72"/>
    <p:sldId id="497" r:id="rId73"/>
    <p:sldId id="334" r:id="rId74"/>
    <p:sldId id="400" r:id="rId75"/>
    <p:sldId id="401" r:id="rId76"/>
    <p:sldId id="274" r:id="rId77"/>
    <p:sldId id="513" r:id="rId78"/>
    <p:sldId id="275" r:id="rId79"/>
    <p:sldId id="276" r:id="rId80"/>
    <p:sldId id="506" r:id="rId81"/>
    <p:sldId id="277" r:id="rId82"/>
    <p:sldId id="320" r:id="rId83"/>
    <p:sldId id="514" r:id="rId84"/>
    <p:sldId id="437" r:id="rId85"/>
    <p:sldId id="278" r:id="rId86"/>
    <p:sldId id="284" r:id="rId87"/>
    <p:sldId id="283" r:id="rId88"/>
    <p:sldId id="285" r:id="rId89"/>
    <p:sldId id="321" r:id="rId90"/>
    <p:sldId id="516" r:id="rId91"/>
    <p:sldId id="323" r:id="rId92"/>
    <p:sldId id="300" r:id="rId93"/>
    <p:sldId id="299" r:id="rId94"/>
    <p:sldId id="301" r:id="rId95"/>
    <p:sldId id="335" r:id="rId96"/>
    <p:sldId id="305" r:id="rId97"/>
    <p:sldId id="336" r:id="rId98"/>
    <p:sldId id="337" r:id="rId99"/>
    <p:sldId id="340" r:id="rId100"/>
    <p:sldId id="339" r:id="rId101"/>
    <p:sldId id="499" r:id="rId102"/>
    <p:sldId id="341" r:id="rId103"/>
    <p:sldId id="342" r:id="rId104"/>
    <p:sldId id="343" r:id="rId105"/>
    <p:sldId id="344" r:id="rId106"/>
    <p:sldId id="326" r:id="rId107"/>
    <p:sldId id="438" r:id="rId108"/>
    <p:sldId id="330" r:id="rId109"/>
    <p:sldId id="329" r:id="rId110"/>
    <p:sldId id="331" r:id="rId111"/>
    <p:sldId id="347" r:id="rId112"/>
    <p:sldId id="261" r:id="rId113"/>
    <p:sldId id="263" r:id="rId114"/>
    <p:sldId id="366" r:id="rId115"/>
    <p:sldId id="367" r:id="rId116"/>
    <p:sldId id="368" r:id="rId117"/>
    <p:sldId id="369" r:id="rId118"/>
    <p:sldId id="370" r:id="rId119"/>
    <p:sldId id="361" r:id="rId120"/>
    <p:sldId id="349" r:id="rId121"/>
    <p:sldId id="468" r:id="rId122"/>
    <p:sldId id="500" r:id="rId123"/>
    <p:sldId id="353" r:id="rId124"/>
    <p:sldId id="502" r:id="rId125"/>
    <p:sldId id="501" r:id="rId126"/>
    <p:sldId id="354" r:id="rId127"/>
    <p:sldId id="307" r:id="rId128"/>
    <p:sldId id="355" r:id="rId129"/>
    <p:sldId id="356" r:id="rId130"/>
    <p:sldId id="357" r:id="rId131"/>
    <p:sldId id="358" r:id="rId132"/>
    <p:sldId id="310" r:id="rId133"/>
    <p:sldId id="338" r:id="rId134"/>
    <p:sldId id="408" r:id="rId135"/>
    <p:sldId id="409" r:id="rId136"/>
    <p:sldId id="410" r:id="rId137"/>
    <p:sldId id="411" r:id="rId138"/>
    <p:sldId id="412" r:id="rId139"/>
    <p:sldId id="413" r:id="rId140"/>
    <p:sldId id="439" r:id="rId141"/>
    <p:sldId id="414" r:id="rId142"/>
    <p:sldId id="415" r:id="rId143"/>
    <p:sldId id="417" r:id="rId144"/>
    <p:sldId id="418" r:id="rId145"/>
    <p:sldId id="419" r:id="rId146"/>
    <p:sldId id="420" r:id="rId147"/>
    <p:sldId id="421" r:id="rId148"/>
    <p:sldId id="422" r:id="rId149"/>
  </p:sldIdLst>
  <p:sldSz cx="9144000" cy="6858000" type="screen4x3"/>
  <p:notesSz cx="6858000" cy="9144000"/>
  <p:custDataLst>
    <p:tags r:id="rId151"/>
  </p:custDataLst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00"/>
    <a:srgbClr val="0066FF"/>
    <a:srgbClr val="FFFF00"/>
    <a:srgbClr val="99FFC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7036" autoAdjust="0"/>
    <p:restoredTop sz="94210" autoAdjust="0"/>
  </p:normalViewPr>
  <p:slideViewPr>
    <p:cSldViewPr>
      <p:cViewPr varScale="1">
        <p:scale>
          <a:sx n="86" d="100"/>
          <a:sy n="86" d="100"/>
        </p:scale>
        <p:origin x="49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notesMaster" Target="notesMasters/notesMaster1.xml"/><Relationship Id="rId155" Type="http://schemas.openxmlformats.org/officeDocument/2006/relationships/tableStyles" Target="tableStyle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5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5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png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png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png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png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png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EE4241D-08ED-47A2-B56E-54380F4BE61A}" type="datetimeFigureOut">
              <a:rPr lang="ru-RU"/>
              <a:pPr>
                <a:defRPr/>
              </a:pPr>
              <a:t>02.12.2025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B135DC0-4BDB-4619-B7D6-B98A887B701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34128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135DC0-4BDB-4619-B7D6-B98A887B7013}" type="slidenum">
              <a:rPr lang="ru-RU" smtClean="0"/>
              <a:pPr>
                <a:defRPr/>
              </a:pPr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8803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135DC0-4BDB-4619-B7D6-B98A887B7013}" type="slidenum">
              <a:rPr lang="ru-RU" smtClean="0"/>
              <a:pPr>
                <a:defRPr/>
              </a:pPr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532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832699-AEB5-4564-85FF-6EDE3D5C369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4694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093108-C2EB-4967-993A-3C5C6A04692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3468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299F43-3B9B-43E9-99C5-5019E346FBF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3046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38CF00-0006-4D9A-BDD4-1E74B7980D6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959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D19112-85CB-494C-918A-8577FF7F71C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9223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F175ED-FEBC-4261-84D8-4254FC35001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6292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C4BEFA-A8EA-425B-B1D9-91BDAE793C2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06730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73DB4C-654F-49D1-A56C-B48F417018F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8625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D35BAA-151E-4E9E-8129-088D9C0DB5E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1459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EDA83F-26BC-4949-A4CB-7B918E6EA06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2128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853DEE-ACFD-4A7C-8227-791FE02243E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4553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257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57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57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B73FA1A-EF36-4E00-B855-6BA813CA15D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0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1.w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2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6.w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30.wmf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33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34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37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38.pn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60.png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66.png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74.png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5" Type="http://schemas.openxmlformats.org/officeDocument/2006/relationships/oleObject" Target="../embeddings/oleObject18.bin"/><Relationship Id="rId4" Type="http://schemas.openxmlformats.org/officeDocument/2006/relationships/image" Target="../media/image74.png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74.png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4"/>
          <p:cNvSpPr txBox="1">
            <a:spLocks noChangeArrowheads="1"/>
          </p:cNvSpPr>
          <p:nvPr/>
        </p:nvSpPr>
        <p:spPr bwMode="auto">
          <a:xfrm>
            <a:off x="395288" y="1268413"/>
            <a:ext cx="8497887" cy="3478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/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/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планетарных коробок 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/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/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передач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31640" y="2276872"/>
            <a:ext cx="6840760" cy="1654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Составляющие части планетарных коробок передач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310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228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361950"/>
            <a:ext cx="8439150" cy="613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7284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4"/>
          <p:cNvSpPr txBox="1">
            <a:spLocks noChangeArrowheads="1"/>
          </p:cNvSpPr>
          <p:nvPr/>
        </p:nvSpPr>
        <p:spPr bwMode="auto">
          <a:xfrm>
            <a:off x="250825" y="2292350"/>
            <a:ext cx="849788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ru-RU" sz="4400" b="1" dirty="0">
                <a:latin typeface="Tahoma" pitchFamily="34" charset="0"/>
              </a:rPr>
              <a:t>Механическая часть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528469"/>
            <a:ext cx="7704855" cy="554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1006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8885856"/>
              </p:ext>
            </p:extLst>
          </p:nvPr>
        </p:nvGraphicFramePr>
        <p:xfrm>
          <a:off x="2483768" y="1299390"/>
          <a:ext cx="6381607" cy="51845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49" name="Image" r:id="rId3" imgW="13955556" imgH="11339683" progId="Photoshop.Image.6">
                  <p:embed/>
                </p:oleObj>
              </mc:Choice>
              <mc:Fallback>
                <p:oleObj name="Image" r:id="rId3" imgW="13955556" imgH="11339683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1299390"/>
                        <a:ext cx="6381607" cy="51845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3" y="0"/>
            <a:ext cx="3632011" cy="2612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4338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552" y="2204864"/>
            <a:ext cx="806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Шлицевые соединения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862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1345483"/>
              </p:ext>
            </p:extLst>
          </p:nvPr>
        </p:nvGraphicFramePr>
        <p:xfrm>
          <a:off x="2771800" y="1566897"/>
          <a:ext cx="6137502" cy="49862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36" name="Image" r:id="rId3" imgW="13955556" imgH="11339683" progId="Photoshop.Image.6">
                  <p:embed/>
                </p:oleObj>
              </mc:Choice>
              <mc:Fallback>
                <p:oleObj name="Image" r:id="rId3" imgW="13955556" imgH="11339683" progId="Photoshop.Image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1566897"/>
                        <a:ext cx="6137502" cy="49862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3632011" cy="2612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1848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5"/>
          <p:cNvSpPr>
            <a:spLocks noChangeArrowheads="1"/>
          </p:cNvSpPr>
          <p:nvPr/>
        </p:nvSpPr>
        <p:spPr bwMode="auto">
          <a:xfrm>
            <a:off x="971600" y="2420888"/>
            <a:ext cx="73453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ru-RU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Торцевые шлицы</a:t>
            </a:r>
            <a:endParaRPr lang="ru-RU" sz="36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76404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5"/>
          <p:cNvSpPr>
            <a:spLocks noChangeArrowheads="1"/>
          </p:cNvSpPr>
          <p:nvPr/>
        </p:nvSpPr>
        <p:spPr bwMode="auto">
          <a:xfrm>
            <a:off x="827088" y="333375"/>
            <a:ext cx="73453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ru-RU" sz="3600" b="1">
                <a:solidFill>
                  <a:srgbClr val="002060"/>
                </a:solidFill>
                <a:latin typeface="Tahoma" pitchFamily="34" charset="0"/>
              </a:rPr>
              <a:t>Торцевые шлицы</a:t>
            </a:r>
            <a:endParaRPr lang="ru-RU" sz="3600" i="1">
              <a:solidFill>
                <a:srgbClr val="002060"/>
              </a:solidFill>
              <a:latin typeface="Tahoma" pitchFamily="34" charset="0"/>
            </a:endParaRPr>
          </a:p>
        </p:txBody>
      </p:sp>
      <p:pic>
        <p:nvPicPr>
          <p:cNvPr id="130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836712"/>
            <a:ext cx="6517677" cy="5661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74423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980728"/>
            <a:ext cx="8713788" cy="4999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48591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625475"/>
            <a:ext cx="5543550" cy="539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1000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690563"/>
            <a:ext cx="6119812" cy="541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06248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333375"/>
            <a:ext cx="6265862" cy="620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78794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971600" y="2420888"/>
            <a:ext cx="734536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ru-RU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Шлицы из зубьев зубчатых колес</a:t>
            </a:r>
            <a:endParaRPr lang="ru-RU" sz="36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403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150" y="404664"/>
            <a:ext cx="8593183" cy="6139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8718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052736"/>
            <a:ext cx="4257824" cy="4701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Прямая соединительная линия 2"/>
          <p:cNvCxnSpPr/>
          <p:nvPr/>
        </p:nvCxnSpPr>
        <p:spPr>
          <a:xfrm flipV="1">
            <a:off x="4483224" y="1790383"/>
            <a:ext cx="1024880" cy="2704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860032" y="1196752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Шлицы, изготовленные заодно с </a:t>
            </a: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зубьями шестерни.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578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6418" y="3717032"/>
            <a:ext cx="8424936" cy="1687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– 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Зубчатые колеса ( а – БЦК; б – МЦК);</a:t>
            </a:r>
          </a:p>
          <a:p>
            <a:pPr>
              <a:lnSpc>
                <a:spcPct val="150000"/>
              </a:lnSpc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– Шлицы;</a:t>
            </a:r>
          </a:p>
          <a:p>
            <a:pPr>
              <a:lnSpc>
                <a:spcPct val="150000"/>
              </a:lnSpc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– Канавки для установки стопорных колец.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0326" y="2852936"/>
            <a:ext cx="7848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а)                                                      б)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3" y="188640"/>
            <a:ext cx="8662767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1354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4" descr="Шестерня эпициклическая ПР-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15888"/>
            <a:ext cx="8675688" cy="6507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5526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971600" y="2420888"/>
            <a:ext cx="73453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ru-RU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Конструкции водил</a:t>
            </a:r>
            <a:endParaRPr lang="ru-RU" sz="36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1943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200" y="115888"/>
            <a:ext cx="5754688" cy="655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18789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4" descr="04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80FF"/>
              </a:clrFrom>
              <a:clrTo>
                <a:srgbClr val="0080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60350"/>
            <a:ext cx="7777162" cy="645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59832" y="5445224"/>
            <a:ext cx="30243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sz="5400" b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изг</a:t>
            </a:r>
            <a:r>
              <a:rPr lang="en-US" sz="5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PL</a:t>
            </a:r>
            <a:endParaRPr lang="ru-RU" sz="5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493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91" y="260648"/>
            <a:ext cx="7667625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9774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3" y="177208"/>
            <a:ext cx="4759995" cy="5277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059832" y="5445224"/>
            <a:ext cx="30243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sz="5400" b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изг</a:t>
            </a:r>
            <a:r>
              <a:rPr lang="en-US" sz="5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ru-RU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363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1560" y="1124744"/>
            <a:ext cx="81369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Водила бывают:</a:t>
            </a:r>
          </a:p>
          <a:p>
            <a:endParaRPr lang="ru-RU" sz="3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сварные;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литые;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кованные;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сборные;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0350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250825" y="2292350"/>
            <a:ext cx="849788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ru-RU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Подшипники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0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80C0"/>
              </a:clrFrom>
              <a:clrTo>
                <a:srgbClr val="0080C0">
                  <a:alpha val="0"/>
                </a:srgbClr>
              </a:clrTo>
            </a:clrChange>
            <a:lum bright="-10000" contras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692150"/>
            <a:ext cx="8785225" cy="532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Line 4"/>
          <p:cNvSpPr>
            <a:spLocks noChangeShapeType="1"/>
          </p:cNvSpPr>
          <p:nvPr/>
        </p:nvSpPr>
        <p:spPr bwMode="auto">
          <a:xfrm>
            <a:off x="468313" y="1196975"/>
            <a:ext cx="431800" cy="1871663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316" name="Line 5"/>
          <p:cNvSpPr>
            <a:spLocks noChangeShapeType="1"/>
          </p:cNvSpPr>
          <p:nvPr/>
        </p:nvSpPr>
        <p:spPr bwMode="auto">
          <a:xfrm>
            <a:off x="468313" y="1196975"/>
            <a:ext cx="2735262" cy="1871663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317" name="Text Box 6"/>
          <p:cNvSpPr txBox="1">
            <a:spLocks noChangeArrowheads="1"/>
          </p:cNvSpPr>
          <p:nvPr/>
        </p:nvSpPr>
        <p:spPr bwMode="auto">
          <a:xfrm>
            <a:off x="0" y="836613"/>
            <a:ext cx="32670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b="1">
                <a:solidFill>
                  <a:srgbClr val="002060"/>
                </a:solidFill>
                <a:latin typeface="Tahoma" pitchFamily="34" charset="0"/>
              </a:rPr>
              <a:t>Подшипники скольжения</a:t>
            </a:r>
          </a:p>
        </p:txBody>
      </p:sp>
      <p:sp>
        <p:nvSpPr>
          <p:cNvPr id="13318" name="Text Box 7"/>
          <p:cNvSpPr txBox="1">
            <a:spLocks noChangeArrowheads="1"/>
          </p:cNvSpPr>
          <p:nvPr/>
        </p:nvSpPr>
        <p:spPr bwMode="auto">
          <a:xfrm>
            <a:off x="4006850" y="260350"/>
            <a:ext cx="5137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b="1">
                <a:solidFill>
                  <a:srgbClr val="002060"/>
                </a:solidFill>
                <a:latin typeface="Tahoma" pitchFamily="34" charset="0"/>
              </a:rPr>
              <a:t>Игольчатые или роликовые подшипники</a:t>
            </a:r>
          </a:p>
        </p:txBody>
      </p:sp>
      <p:sp>
        <p:nvSpPr>
          <p:cNvPr id="13319" name="Line 8"/>
          <p:cNvSpPr>
            <a:spLocks noChangeShapeType="1"/>
          </p:cNvSpPr>
          <p:nvPr/>
        </p:nvSpPr>
        <p:spPr bwMode="auto">
          <a:xfrm flipH="1">
            <a:off x="3708400" y="620713"/>
            <a:ext cx="2016125" cy="8636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320" name="Line 9"/>
          <p:cNvSpPr>
            <a:spLocks noChangeShapeType="1"/>
          </p:cNvSpPr>
          <p:nvPr/>
        </p:nvSpPr>
        <p:spPr bwMode="auto">
          <a:xfrm flipH="1">
            <a:off x="5364163" y="620713"/>
            <a:ext cx="360362" cy="1152525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321" name="Line 10"/>
          <p:cNvSpPr>
            <a:spLocks noChangeShapeType="1"/>
          </p:cNvSpPr>
          <p:nvPr/>
        </p:nvSpPr>
        <p:spPr bwMode="auto">
          <a:xfrm>
            <a:off x="5724525" y="620713"/>
            <a:ext cx="1295400" cy="1223962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322" name="Line 12"/>
          <p:cNvSpPr>
            <a:spLocks noChangeShapeType="1"/>
          </p:cNvSpPr>
          <p:nvPr/>
        </p:nvSpPr>
        <p:spPr bwMode="auto">
          <a:xfrm flipV="1">
            <a:off x="2268538" y="4365625"/>
            <a:ext cx="1008062" cy="17272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323" name="Line 13"/>
          <p:cNvSpPr>
            <a:spLocks noChangeShapeType="1"/>
          </p:cNvSpPr>
          <p:nvPr/>
        </p:nvSpPr>
        <p:spPr bwMode="auto">
          <a:xfrm flipV="1">
            <a:off x="2268538" y="4292600"/>
            <a:ext cx="2087562" cy="1800225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324" name="Line 14"/>
          <p:cNvSpPr>
            <a:spLocks noChangeShapeType="1"/>
          </p:cNvSpPr>
          <p:nvPr/>
        </p:nvSpPr>
        <p:spPr bwMode="auto">
          <a:xfrm flipV="1">
            <a:off x="2268538" y="4149725"/>
            <a:ext cx="2590800" cy="19431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325" name="Line 15"/>
          <p:cNvSpPr>
            <a:spLocks noChangeShapeType="1"/>
          </p:cNvSpPr>
          <p:nvPr/>
        </p:nvSpPr>
        <p:spPr bwMode="auto">
          <a:xfrm flipV="1">
            <a:off x="2268538" y="4149725"/>
            <a:ext cx="5111750" cy="19431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326" name="Line 16"/>
          <p:cNvSpPr>
            <a:spLocks noChangeShapeType="1"/>
          </p:cNvSpPr>
          <p:nvPr/>
        </p:nvSpPr>
        <p:spPr bwMode="auto">
          <a:xfrm flipV="1">
            <a:off x="2268538" y="4221163"/>
            <a:ext cx="5472112" cy="1871662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327" name="Text Box 17"/>
          <p:cNvSpPr txBox="1">
            <a:spLocks noChangeArrowheads="1"/>
          </p:cNvSpPr>
          <p:nvPr/>
        </p:nvSpPr>
        <p:spPr bwMode="auto">
          <a:xfrm>
            <a:off x="1311275" y="6092825"/>
            <a:ext cx="539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b="1">
                <a:solidFill>
                  <a:srgbClr val="002060"/>
                </a:solidFill>
                <a:latin typeface="Tahoma" pitchFamily="34" charset="0"/>
              </a:rPr>
              <a:t>Игольчатые упорные подшипники качения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628800"/>
            <a:ext cx="7810893" cy="317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36095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5"/>
          <p:cNvSpPr>
            <a:spLocks noChangeArrowheads="1"/>
          </p:cNvSpPr>
          <p:nvPr/>
        </p:nvSpPr>
        <p:spPr bwMode="auto">
          <a:xfrm>
            <a:off x="0" y="1543050"/>
            <a:ext cx="9072563" cy="343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056" bIns="0" anchor="ctr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 typeface="Symbol" pitchFamily="18" charset="2"/>
              <a:buNone/>
            </a:pPr>
            <a:r>
              <a:rPr lang="ru-RU" altLang="ru-RU" sz="4400" b="1">
                <a:latin typeface="Times New Roman" pitchFamily="18" charset="0"/>
              </a:rPr>
              <a:t>В случае, если подшипник используется в качестве опоры сателлита планетарного ряда, то на подшипник действуют две силы:</a:t>
            </a:r>
          </a:p>
        </p:txBody>
      </p:sp>
    </p:spTree>
    <p:extLst>
      <p:ext uri="{BB962C8B-B14F-4D97-AF65-F5344CB8AC3E}">
        <p14:creationId xmlns:p14="http://schemas.microsoft.com/office/powerpoint/2010/main" val="1914246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/>
          <p:cNvSpPr>
            <a:spLocks noChangeArrowheads="1"/>
          </p:cNvSpPr>
          <p:nvPr/>
        </p:nvSpPr>
        <p:spPr bwMode="auto">
          <a:xfrm>
            <a:off x="0" y="2076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3600">
              <a:latin typeface="Garamond" pitchFamily="18" charset="0"/>
            </a:endParaRPr>
          </a:p>
        </p:txBody>
      </p:sp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1403350" y="333375"/>
          <a:ext cx="6192838" cy="610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8" name="Bitmap Image" r:id="rId3" imgW="7811590" imgH="7706801" progId="Paint.Picture">
                  <p:embed/>
                </p:oleObj>
              </mc:Choice>
              <mc:Fallback>
                <p:oleObj name="Bitmap Image" r:id="rId3" imgW="7811590" imgH="7706801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33375"/>
                        <a:ext cx="6192838" cy="610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00162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5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3600">
              <a:latin typeface="Garamond" pitchFamily="18" charset="0"/>
            </a:endParaRPr>
          </a:p>
        </p:txBody>
      </p:sp>
      <p:graphicFrame>
        <p:nvGraphicFramePr>
          <p:cNvPr id="19459" name="Object 4"/>
          <p:cNvGraphicFramePr>
            <a:graphicFrameLocks noChangeAspect="1"/>
          </p:cNvGraphicFramePr>
          <p:nvPr/>
        </p:nvGraphicFramePr>
        <p:xfrm>
          <a:off x="974725" y="1533525"/>
          <a:ext cx="7829550" cy="341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22" name="Equation" r:id="rId3" imgW="1041120" imgH="457200" progId="Equation.DSMT4">
                  <p:embed/>
                </p:oleObj>
              </mc:Choice>
              <mc:Fallback>
                <p:oleObj name="Equation" r:id="rId3" imgW="10411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4725" y="1533525"/>
                        <a:ext cx="7829550" cy="341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Rectangle 7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3600">
              <a:latin typeface="Garamond" pitchFamily="18" charset="0"/>
            </a:endParaRPr>
          </a:p>
        </p:txBody>
      </p:sp>
      <p:sp>
        <p:nvSpPr>
          <p:cNvPr id="19461" name="Rectangle 9"/>
          <p:cNvSpPr>
            <a:spLocks noChangeArrowheads="1"/>
          </p:cNvSpPr>
          <p:nvPr/>
        </p:nvSpPr>
        <p:spPr bwMode="auto">
          <a:xfrm>
            <a:off x="0" y="3276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36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53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Box 1"/>
          <p:cNvSpPr txBox="1">
            <a:spLocks noChangeArrowheads="1"/>
          </p:cNvSpPr>
          <p:nvPr/>
        </p:nvSpPr>
        <p:spPr bwMode="auto">
          <a:xfrm>
            <a:off x="323850" y="1863725"/>
            <a:ext cx="7848600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6000" b="1" i="1">
                <a:latin typeface="Times New Roman" pitchFamily="18" charset="0"/>
                <a:cs typeface="Times New Roman" pitchFamily="18" charset="0"/>
              </a:rPr>
              <a:t>М</a:t>
            </a:r>
            <a:r>
              <a:rPr lang="ru-RU" altLang="ru-RU" sz="6000" b="1" baseline="-25000">
                <a:latin typeface="Times New Roman" pitchFamily="18" charset="0"/>
                <a:cs typeface="Times New Roman" pitchFamily="18" charset="0"/>
              </a:rPr>
              <a:t>вод</a:t>
            </a:r>
            <a:r>
              <a:rPr lang="ru-RU" altLang="ru-RU" sz="4400" b="1">
                <a:latin typeface="Times New Roman" pitchFamily="18" charset="0"/>
                <a:cs typeface="Times New Roman" pitchFamily="18" charset="0"/>
              </a:rPr>
              <a:t> – момент передаваемый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ru-RU" altLang="ru-RU" sz="4400" b="1">
                <a:latin typeface="Times New Roman" pitchFamily="18" charset="0"/>
                <a:cs typeface="Times New Roman" pitchFamily="18" charset="0"/>
              </a:rPr>
              <a:t>              водилом</a:t>
            </a:r>
          </a:p>
        </p:txBody>
      </p:sp>
    </p:spTree>
    <p:extLst>
      <p:ext uri="{BB962C8B-B14F-4D97-AF65-F5344CB8AC3E}">
        <p14:creationId xmlns:p14="http://schemas.microsoft.com/office/powerpoint/2010/main" val="2060873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Box 1"/>
          <p:cNvSpPr txBox="1">
            <a:spLocks noChangeArrowheads="1"/>
          </p:cNvSpPr>
          <p:nvPr/>
        </p:nvSpPr>
        <p:spPr bwMode="auto">
          <a:xfrm>
            <a:off x="323850" y="1863725"/>
            <a:ext cx="8569325" cy="237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ru-RU" sz="6000" b="1" i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altLang="ru-RU" sz="6000" b="1" baseline="-25000">
                <a:latin typeface="Times New Roman" pitchFamily="18" charset="0"/>
                <a:cs typeface="Times New Roman" pitchFamily="18" charset="0"/>
              </a:rPr>
              <a:t>вод</a:t>
            </a:r>
            <a:r>
              <a:rPr lang="ru-RU" altLang="ru-RU" sz="4400" b="1">
                <a:latin typeface="Times New Roman" pitchFamily="18" charset="0"/>
                <a:cs typeface="Times New Roman" pitchFamily="18" charset="0"/>
              </a:rPr>
              <a:t> – радиус, на котором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ru-RU" altLang="ru-RU" sz="4400" b="1">
                <a:latin typeface="Times New Roman" pitchFamily="18" charset="0"/>
                <a:cs typeface="Times New Roman" pitchFamily="18" charset="0"/>
              </a:rPr>
              <a:t>             расположены оси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ru-RU" altLang="ru-RU" sz="4400" b="1">
                <a:latin typeface="Times New Roman" pitchFamily="18" charset="0"/>
                <a:cs typeface="Times New Roman" pitchFamily="18" charset="0"/>
              </a:rPr>
              <a:t>             сателлитов</a:t>
            </a:r>
          </a:p>
        </p:txBody>
      </p:sp>
    </p:spTree>
    <p:extLst>
      <p:ext uri="{BB962C8B-B14F-4D97-AF65-F5344CB8AC3E}">
        <p14:creationId xmlns:p14="http://schemas.microsoft.com/office/powerpoint/2010/main" val="1445731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1"/>
          <p:cNvSpPr txBox="1">
            <a:spLocks noChangeArrowheads="1"/>
          </p:cNvSpPr>
          <p:nvPr/>
        </p:nvSpPr>
        <p:spPr bwMode="auto">
          <a:xfrm>
            <a:off x="323850" y="1863725"/>
            <a:ext cx="78486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6000" b="1" i="1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altLang="ru-RU" sz="6000" b="1" baseline="-25000">
                <a:latin typeface="Times New Roman" pitchFamily="18" charset="0"/>
                <a:cs typeface="Times New Roman" pitchFamily="18" charset="0"/>
              </a:rPr>
              <a:t>сат</a:t>
            </a:r>
            <a:r>
              <a:rPr lang="ru-RU" altLang="ru-RU" sz="4400" b="1">
                <a:latin typeface="Times New Roman" pitchFamily="18" charset="0"/>
                <a:cs typeface="Times New Roman" pitchFamily="18" charset="0"/>
              </a:rPr>
              <a:t> – число сателлитов.</a:t>
            </a:r>
          </a:p>
        </p:txBody>
      </p:sp>
    </p:spTree>
    <p:extLst>
      <p:ext uri="{BB962C8B-B14F-4D97-AF65-F5344CB8AC3E}">
        <p14:creationId xmlns:p14="http://schemas.microsoft.com/office/powerpoint/2010/main" val="2788472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Box 1"/>
          <p:cNvSpPr txBox="1">
            <a:spLocks noChangeArrowheads="1"/>
          </p:cNvSpPr>
          <p:nvPr/>
        </p:nvSpPr>
        <p:spPr bwMode="auto">
          <a:xfrm>
            <a:off x="325438" y="1268413"/>
            <a:ext cx="8569325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ru-RU" sz="6000" b="1" i="1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altLang="ru-RU" sz="6000" b="1" baseline="-25000">
                <a:latin typeface="Times New Roman" pitchFamily="18" charset="0"/>
                <a:cs typeface="Times New Roman" pitchFamily="18" charset="0"/>
              </a:rPr>
              <a:t>нер</a:t>
            </a:r>
            <a:r>
              <a:rPr lang="ru-RU" altLang="ru-RU" sz="4400" b="1">
                <a:latin typeface="Times New Roman" pitchFamily="18" charset="0"/>
                <a:cs typeface="Times New Roman" pitchFamily="18" charset="0"/>
              </a:rPr>
              <a:t> – коэффициент,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ru-RU" altLang="ru-RU" sz="4400" b="1">
                <a:latin typeface="Times New Roman" pitchFamily="18" charset="0"/>
                <a:cs typeface="Times New Roman" pitchFamily="18" charset="0"/>
              </a:rPr>
              <a:t>              учитывающий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ru-RU" altLang="ru-RU" sz="4400" b="1">
                <a:latin typeface="Times New Roman" pitchFamily="18" charset="0"/>
                <a:cs typeface="Times New Roman" pitchFamily="18" charset="0"/>
              </a:rPr>
              <a:t>              неравномерность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ru-RU" altLang="ru-RU" sz="4400" b="1">
                <a:latin typeface="Times New Roman" pitchFamily="18" charset="0"/>
                <a:cs typeface="Times New Roman" pitchFamily="18" charset="0"/>
              </a:rPr>
              <a:t>              распределения нагрузки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ru-RU" altLang="ru-RU" sz="4400" b="1">
                <a:latin typeface="Times New Roman" pitchFamily="18" charset="0"/>
                <a:cs typeface="Times New Roman" pitchFamily="18" charset="0"/>
              </a:rPr>
              <a:t>              между сателлитами.</a:t>
            </a:r>
          </a:p>
        </p:txBody>
      </p:sp>
    </p:spTree>
    <p:extLst>
      <p:ext uri="{BB962C8B-B14F-4D97-AF65-F5344CB8AC3E}">
        <p14:creationId xmlns:p14="http://schemas.microsoft.com/office/powerpoint/2010/main" val="3916406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4"/>
          <p:cNvGraphicFramePr>
            <a:graphicFrameLocks noChangeAspect="1"/>
          </p:cNvGraphicFramePr>
          <p:nvPr/>
        </p:nvGraphicFramePr>
        <p:xfrm>
          <a:off x="684213" y="1989138"/>
          <a:ext cx="7912100" cy="178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46" name="Equation" r:id="rId3" imgW="1143000" imgH="253800" progId="Equation.DSMT4">
                  <p:embed/>
                </p:oleObj>
              </mc:Choice>
              <mc:Fallback>
                <p:oleObj name="Equation" r:id="rId3" imgW="11430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989138"/>
                        <a:ext cx="7912100" cy="178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65537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Box 1"/>
          <p:cNvSpPr txBox="1">
            <a:spLocks noChangeArrowheads="1"/>
          </p:cNvSpPr>
          <p:nvPr/>
        </p:nvSpPr>
        <p:spPr bwMode="auto">
          <a:xfrm>
            <a:off x="755650" y="2408238"/>
            <a:ext cx="78486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ru-RU" sz="6000" b="1" i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ru-RU" altLang="ru-RU" sz="6000" b="1" baseline="-25000">
                <a:latin typeface="Times New Roman" pitchFamily="18" charset="0"/>
                <a:cs typeface="Times New Roman" pitchFamily="18" charset="0"/>
              </a:rPr>
              <a:t>сат</a:t>
            </a:r>
            <a:r>
              <a:rPr lang="ru-RU" altLang="ru-RU" sz="4400" b="1">
                <a:latin typeface="Times New Roman" pitchFamily="18" charset="0"/>
                <a:cs typeface="Times New Roman" pitchFamily="18" charset="0"/>
              </a:rPr>
              <a:t> – масса сателлита;</a:t>
            </a:r>
          </a:p>
        </p:txBody>
      </p:sp>
    </p:spTree>
    <p:extLst>
      <p:ext uri="{BB962C8B-B14F-4D97-AF65-F5344CB8AC3E}">
        <p14:creationId xmlns:p14="http://schemas.microsoft.com/office/powerpoint/2010/main" val="3491834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Box 1"/>
          <p:cNvSpPr txBox="1">
            <a:spLocks noChangeArrowheads="1"/>
          </p:cNvSpPr>
          <p:nvPr/>
        </p:nvSpPr>
        <p:spPr bwMode="auto">
          <a:xfrm>
            <a:off x="323850" y="2408238"/>
            <a:ext cx="88201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ru-RU" sz="6000" b="1" i="1" dirty="0">
                <a:latin typeface="Times New Roman" pitchFamily="18" charset="0"/>
                <a:cs typeface="Times New Roman" pitchFamily="18" charset="0"/>
              </a:rPr>
              <a:t>ω</a:t>
            </a:r>
            <a:r>
              <a:rPr lang="ru-RU" altLang="ru-RU" sz="6000" b="1" baseline="-25000" dirty="0">
                <a:latin typeface="Times New Roman" pitchFamily="18" charset="0"/>
                <a:cs typeface="Times New Roman" pitchFamily="18" charset="0"/>
              </a:rPr>
              <a:t>вод</a:t>
            </a:r>
            <a:r>
              <a:rPr lang="ru-RU" altLang="ru-RU" sz="4400" b="1" dirty="0">
                <a:latin typeface="Times New Roman" pitchFamily="18" charset="0"/>
                <a:cs typeface="Times New Roman" pitchFamily="18" charset="0"/>
              </a:rPr>
              <a:t> – угловая скорость водила.</a:t>
            </a:r>
          </a:p>
        </p:txBody>
      </p:sp>
    </p:spTree>
    <p:extLst>
      <p:ext uri="{BB962C8B-B14F-4D97-AF65-F5344CB8AC3E}">
        <p14:creationId xmlns:p14="http://schemas.microsoft.com/office/powerpoint/2010/main" val="2491004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4"/>
          <p:cNvGraphicFramePr>
            <a:graphicFrameLocks noChangeAspect="1"/>
          </p:cNvGraphicFramePr>
          <p:nvPr/>
        </p:nvGraphicFramePr>
        <p:xfrm>
          <a:off x="827088" y="2205038"/>
          <a:ext cx="7416800" cy="210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70" name="Equation" r:id="rId3" imgW="1079280" imgH="304560" progId="Equation.DSMT4">
                  <p:embed/>
                </p:oleObj>
              </mc:Choice>
              <mc:Fallback>
                <p:oleObj name="Equation" r:id="rId3" imgW="10792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205038"/>
                        <a:ext cx="7416800" cy="2100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7653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Box 1"/>
          <p:cNvSpPr txBox="1">
            <a:spLocks noChangeArrowheads="1"/>
          </p:cNvSpPr>
          <p:nvPr/>
        </p:nvSpPr>
        <p:spPr bwMode="auto">
          <a:xfrm>
            <a:off x="179512" y="1340768"/>
            <a:ext cx="8820150" cy="34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4400" b="1" dirty="0" smtClean="0">
                <a:latin typeface="Times New Roman" pitchFamily="18" charset="0"/>
                <a:cs typeface="Times New Roman" pitchFamily="18" charset="0"/>
              </a:rPr>
              <a:t>Сила </a:t>
            </a:r>
            <a:r>
              <a:rPr lang="en-US" altLang="ru-RU" sz="4400" b="1" i="1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ru-RU" sz="4400" b="1" i="1" baseline="-25000" dirty="0" smtClean="0"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ru-RU" altLang="ru-RU" sz="4400" b="1" dirty="0" smtClean="0">
                <a:latin typeface="Times New Roman" pitchFamily="18" charset="0"/>
                <a:cs typeface="Times New Roman" pitchFamily="18" charset="0"/>
              </a:rPr>
              <a:t>должна использоваться и при расчете осей сателлитов и отверстий в щеках водил, предназначенных для установки осей сателлитов.</a:t>
            </a:r>
            <a:endParaRPr lang="ru-RU" altLang="ru-RU" sz="44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235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4"/>
          <p:cNvSpPr txBox="1">
            <a:spLocks noChangeArrowheads="1"/>
          </p:cNvSpPr>
          <p:nvPr/>
        </p:nvSpPr>
        <p:spPr bwMode="auto">
          <a:xfrm>
            <a:off x="250825" y="2292350"/>
            <a:ext cx="8497888" cy="1446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Фрикционные элементы управления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7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809625"/>
            <a:ext cx="8839200" cy="523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0441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710" y="22870"/>
            <a:ext cx="5688632" cy="674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7381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15888"/>
            <a:ext cx="8450262" cy="653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/>
          <p:cNvSpPr>
            <a:spLocks noChangeArrowheads="1"/>
          </p:cNvSpPr>
          <p:nvPr/>
        </p:nvSpPr>
        <p:spPr bwMode="auto">
          <a:xfrm>
            <a:off x="611188" y="2276475"/>
            <a:ext cx="783748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Расчет 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дисковых фрикционных</a:t>
            </a:r>
            <a:endParaRPr lang="en-US" sz="3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элементов 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4"/>
          <p:cNvGraphicFramePr>
            <a:graphicFrameLocks noChangeAspect="1"/>
          </p:cNvGraphicFramePr>
          <p:nvPr/>
        </p:nvGraphicFramePr>
        <p:xfrm>
          <a:off x="1374775" y="2492375"/>
          <a:ext cx="6640513" cy="205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9" name="Equation" r:id="rId3" imgW="1396800" imgH="431640" progId="Equation.DSMT4">
                  <p:embed/>
                </p:oleObj>
              </mc:Choice>
              <mc:Fallback>
                <p:oleObj name="Equation" r:id="rId3" imgW="1396800" imgH="4316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4775" y="2492375"/>
                        <a:ext cx="6640513" cy="205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3" name="Rectangle 4"/>
          <p:cNvSpPr>
            <a:spLocks noChangeArrowheads="1"/>
          </p:cNvSpPr>
          <p:nvPr/>
        </p:nvSpPr>
        <p:spPr bwMode="auto">
          <a:xfrm>
            <a:off x="833438" y="836613"/>
            <a:ext cx="7837487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ru-RU" sz="3600" b="1" dirty="0">
                <a:latin typeface="Times New Roman" pitchFamily="18" charset="0"/>
                <a:cs typeface="Times New Roman" pitchFamily="18" charset="0"/>
              </a:rPr>
              <a:t>Общая зависимость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/>
          <p:cNvSpPr>
            <a:spLocks noChangeArrowheads="1"/>
          </p:cNvSpPr>
          <p:nvPr/>
        </p:nvSpPr>
        <p:spPr bwMode="auto">
          <a:xfrm>
            <a:off x="395288" y="1844675"/>
            <a:ext cx="8640762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ru-RU" sz="36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4800" b="1" i="1" dirty="0" err="1" smtClean="0">
                <a:latin typeface="Times New Roman" pitchFamily="18" charset="0"/>
                <a:cs typeface="Times New Roman" pitchFamily="18" charset="0"/>
              </a:rPr>
              <a:t>М</a:t>
            </a:r>
            <a:r>
              <a:rPr lang="ru-RU" sz="4800" b="1" i="1" baseline="-25000" dirty="0" err="1" smtClean="0">
                <a:latin typeface="Times New Roman" pitchFamily="18" charset="0"/>
                <a:cs typeface="Times New Roman" pitchFamily="18" charset="0"/>
              </a:rPr>
              <a:t>р</a:t>
            </a:r>
            <a:r>
              <a:rPr lang="ru-RU" sz="4800" b="1" dirty="0" smtClean="0">
                <a:latin typeface="Times New Roman" pitchFamily="18" charset="0"/>
                <a:cs typeface="Times New Roman" pitchFamily="18" charset="0"/>
              </a:rPr>
              <a:t>- расчетный момент, </a:t>
            </a:r>
            <a:r>
              <a:rPr lang="ru-RU" sz="4800" b="1" dirty="0" err="1">
                <a:latin typeface="Times New Roman" pitchFamily="18" charset="0"/>
                <a:cs typeface="Times New Roman" pitchFamily="18" charset="0"/>
              </a:rPr>
              <a:t>Нм</a:t>
            </a:r>
            <a:r>
              <a:rPr lang="ru-RU" sz="4800" b="1" dirty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4800" b="1" baseline="-25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ChangeArrowheads="1"/>
          </p:cNvSpPr>
          <p:nvPr/>
        </p:nvSpPr>
        <p:spPr bwMode="auto">
          <a:xfrm>
            <a:off x="395288" y="2495550"/>
            <a:ext cx="864076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l-GR" sz="4800" b="1" i="1" dirty="0">
                <a:latin typeface="Times New Roman" pitchFamily="18" charset="0"/>
                <a:cs typeface="Times New Roman" pitchFamily="18" charset="0"/>
              </a:rPr>
              <a:t>μ</a:t>
            </a:r>
            <a:r>
              <a:rPr lang="ru-RU" sz="4800" b="1" dirty="0">
                <a:latin typeface="Times New Roman" pitchFamily="18" charset="0"/>
                <a:cs typeface="Times New Roman" pitchFamily="18" charset="0"/>
              </a:rPr>
              <a:t> – коэффициент трения;</a:t>
            </a:r>
            <a:endParaRPr lang="ru-RU" sz="4800" b="1" baseline="-25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51520" y="1412776"/>
            <a:ext cx="864076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4800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ru-RU" sz="4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800" b="1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sz="4800" b="1" dirty="0" smtClean="0">
                <a:latin typeface="Times New Roman" pitchFamily="18" charset="0"/>
                <a:cs typeface="Times New Roman" pitchFamily="18" charset="0"/>
              </a:rPr>
              <a:t>допускаемое удельное давление на поверхности фрикционных дисков;</a:t>
            </a:r>
            <a:endParaRPr lang="ru-RU" sz="4800" b="1" baseline="-25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064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706" name="Group 4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539323"/>
              </p:ext>
            </p:extLst>
          </p:nvPr>
        </p:nvGraphicFramePr>
        <p:xfrm>
          <a:off x="250825" y="188913"/>
          <a:ext cx="8642350" cy="6124574"/>
        </p:xfrm>
        <a:graphic>
          <a:graphicData uri="http://schemas.openxmlformats.org/drawingml/2006/table">
            <a:tbl>
              <a:tblPr/>
              <a:tblGrid>
                <a:gridCol w="3529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4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08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3193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Пара трения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Сухое трение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Трение в масле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034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μ</a:t>
                      </a:r>
                      <a:r>
                        <a:rPr kumimoji="0" lang="en-US" sz="20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max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μ</a:t>
                      </a:r>
                      <a:r>
                        <a:rPr kumimoji="0" lang="en-US" sz="20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min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</a:t>
                      </a: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],</a:t>
                      </a:r>
                      <a:endParaRPr kumimoji="0" lang="ru-RU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ru-RU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Па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μ</a:t>
                      </a:r>
                      <a:r>
                        <a:rPr kumimoji="0" lang="en-US" sz="20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max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μ</a:t>
                      </a:r>
                      <a:r>
                        <a:rPr kumimoji="0" lang="en-US" sz="20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min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</a:t>
                      </a: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],</a:t>
                      </a:r>
                      <a:endParaRPr kumimoji="0" lang="ru-RU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ru-RU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Па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04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Сталь-сталь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0,28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0,2-0,25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0,07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0,03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1,0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663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Сталь чугун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0,25-0,3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0,07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0,03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1,2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527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Сталь-феродо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0,4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0,2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0,2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21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Сталь-асбокаучук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0,3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0,4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0,07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2,5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717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Сталь-металлокерамика (МК2) на железной основе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0,45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0,3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0,6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558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Сталь-металлокерамика (МК5) на медной основе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2,0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0,12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0,08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4,0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011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Сталь-материал на целлюлозной основе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0,16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0,12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4,0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10,0</a:t>
                      </a:r>
                      <a:r>
                        <a:rPr kumimoji="0" lang="ru-RU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 ?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4"/>
              <p:cNvSpPr>
                <a:spLocks noChangeArrowheads="1"/>
              </p:cNvSpPr>
              <p:nvPr/>
            </p:nvSpPr>
            <p:spPr bwMode="auto">
              <a:xfrm>
                <a:off x="225089" y="2060848"/>
                <a:ext cx="8892480" cy="18909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4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4800" b="1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  <m:t>𝑹</m:t>
                        </m:r>
                      </m:e>
                      <m:sub>
                        <m:r>
                          <a:rPr lang="ru-RU" sz="4800" b="1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  <m:t>ср</m:t>
                        </m:r>
                      </m:sub>
                    </m:sSub>
                  </m:oMath>
                </a14:m>
                <a:r>
                  <a:rPr lang="ru-RU" sz="4800" b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4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48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sz="4800" b="1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ru-RU" sz="4800" b="1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н</m:t>
                            </m:r>
                          </m:sub>
                        </m:sSub>
                        <m:r>
                          <a:rPr lang="ru-RU" sz="48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ru-RU" sz="48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sz="4800" b="1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ru-RU" sz="4800" b="1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в</m:t>
                            </m:r>
                          </m:sub>
                        </m:sSub>
                      </m:num>
                      <m:den>
                        <m:r>
                          <a:rPr lang="ru-RU" sz="48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ru-RU" sz="4800" b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– средний радиус</a:t>
                </a:r>
              </a:p>
              <a:p>
                <a:r>
                  <a:rPr lang="ru-RU" sz="48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ru-RU" sz="4800" b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                   дисков;</a:t>
                </a:r>
                <a:endParaRPr lang="ru-RU" sz="4800" b="1" baseline="-25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089" y="2060848"/>
                <a:ext cx="8892480" cy="1890902"/>
              </a:xfrm>
              <a:prstGeom prst="rect">
                <a:avLst/>
              </a:prstGeom>
              <a:blipFill rotWithShape="1">
                <a:blip r:embed="rId2"/>
                <a:stretch>
                  <a:fillRect b="-1645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7212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/>
          <p:cNvSpPr>
            <a:spLocks noChangeArrowheads="1"/>
          </p:cNvSpPr>
          <p:nvPr/>
        </p:nvSpPr>
        <p:spPr bwMode="auto">
          <a:xfrm>
            <a:off x="395288" y="2060848"/>
            <a:ext cx="864076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4800" b="1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sz="4800" b="1" i="1" baseline="-25000" dirty="0" smtClean="0">
                <a:latin typeface="Times New Roman" pitchFamily="18" charset="0"/>
                <a:cs typeface="Times New Roman" pitchFamily="18" charset="0"/>
              </a:rPr>
              <a:t>в</a:t>
            </a:r>
            <a:r>
              <a:rPr lang="ru-RU" sz="4800" b="1" dirty="0" smtClean="0">
                <a:latin typeface="Times New Roman" pitchFamily="18" charset="0"/>
                <a:cs typeface="Times New Roman" pitchFamily="18" charset="0"/>
              </a:rPr>
              <a:t>– внутренний радиус дисков</a:t>
            </a:r>
            <a:endParaRPr lang="ru-RU" sz="4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4800" b="1" dirty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ru-RU" sz="48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4800" b="1" dirty="0">
                <a:latin typeface="Times New Roman" pitchFamily="18" charset="0"/>
                <a:cs typeface="Times New Roman" pitchFamily="18" charset="0"/>
              </a:rPr>
              <a:t>определяется </a:t>
            </a:r>
            <a:r>
              <a:rPr lang="ru-RU" sz="4800" b="1" dirty="0" err="1" smtClean="0">
                <a:latin typeface="Times New Roman" pitchFamily="18" charset="0"/>
                <a:cs typeface="Times New Roman" pitchFamily="18" charset="0"/>
              </a:rPr>
              <a:t>конструк</a:t>
            </a:r>
            <a:r>
              <a:rPr lang="ru-RU" sz="4800" b="1" dirty="0" smtClean="0">
                <a:latin typeface="Times New Roman" pitchFamily="18" charset="0"/>
                <a:cs typeface="Times New Roman" pitchFamily="18" charset="0"/>
              </a:rPr>
              <a:t>- </a:t>
            </a:r>
          </a:p>
          <a:p>
            <a:r>
              <a:rPr lang="ru-RU" sz="4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800" b="1" dirty="0" smtClean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ru-RU" sz="4800" b="1" dirty="0" err="1" smtClean="0">
                <a:latin typeface="Times New Roman" pitchFamily="18" charset="0"/>
                <a:cs typeface="Times New Roman" pitchFamily="18" charset="0"/>
              </a:rPr>
              <a:t>тивно</a:t>
            </a:r>
            <a:r>
              <a:rPr lang="ru-RU" sz="4800" b="1" dirty="0">
                <a:latin typeface="Times New Roman" pitchFamily="18" charset="0"/>
                <a:cs typeface="Times New Roman" pitchFamily="18" charset="0"/>
              </a:rPr>
              <a:t>), мм;</a:t>
            </a:r>
            <a:endParaRPr lang="ru-RU" sz="4800" b="1" baseline="-25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83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890" name="Rectangle 4"/>
              <p:cNvSpPr>
                <a:spLocks noChangeArrowheads="1"/>
              </p:cNvSpPr>
              <p:nvPr/>
            </p:nvSpPr>
            <p:spPr bwMode="auto">
              <a:xfrm>
                <a:off x="323850" y="1773238"/>
                <a:ext cx="8197850" cy="30735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ru-RU" sz="4800" b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Наружный </a:t>
                </a:r>
                <a:r>
                  <a:rPr lang="ru-RU" sz="48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радиус дисков:</a:t>
                </a:r>
              </a:p>
              <a:p>
                <a:endParaRPr lang="ru-RU" sz="4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sz="4800" b="1" i="1" smtClean="0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ru-RU" sz="4800" b="1" i="1" smtClean="0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  <m:t>н</m:t>
                          </m:r>
                        </m:sub>
                      </m:sSub>
                      <m:r>
                        <a:rPr lang="ru-RU" sz="4800" b="1" i="1" smtClean="0">
                          <a:solidFill>
                            <a:schemeClr val="tx1"/>
                          </a:solidFill>
                          <a:latin typeface="Cambria Math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4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4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cs typeface="Times New Roman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ru-RU" sz="48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cs typeface="Times New Roman" pitchFamily="18" charset="0"/>
                                </a:rPr>
                                <m:t>в</m:t>
                              </m:r>
                            </m:sub>
                          </m:sSub>
                        </m:num>
                        <m:den>
                          <m:r>
                            <a:rPr lang="ru-RU" sz="4800" b="1" i="1" smtClean="0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  <m:t>𝟏</m:t>
                          </m:r>
                          <m:r>
                            <a:rPr lang="ru-RU" sz="4800" b="1" i="1" smtClean="0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  <m:t>−</m:t>
                          </m:r>
                          <m:r>
                            <a:rPr lang="ru-RU" sz="4800" b="1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  <m:t>𝜸</m:t>
                          </m:r>
                        </m:den>
                      </m:f>
                    </m:oMath>
                  </m:oMathPara>
                </a14:m>
                <a:endParaRPr lang="ru-RU" sz="4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7890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850" y="1773238"/>
                <a:ext cx="8197850" cy="3073598"/>
              </a:xfrm>
              <a:prstGeom prst="rect">
                <a:avLst/>
              </a:prstGeom>
              <a:blipFill rotWithShape="1">
                <a:blip r:embed="rId2"/>
                <a:stretch>
                  <a:fillRect l="-3346" t="-436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6657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95536" y="2496049"/>
            <a:ext cx="8640960" cy="2006318"/>
          </a:xfrm>
          <a:prstGeom prst="rect">
            <a:avLst/>
          </a:prstGeom>
          <a:blipFill rotWithShape="1">
            <a:blip r:embed="rId2"/>
            <a:stretch>
              <a:fillRect l="-2188" b="-10000"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ru-RU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839035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"/>
          <p:cNvSpPr>
            <a:spLocks noChangeArrowheads="1"/>
          </p:cNvSpPr>
          <p:nvPr/>
        </p:nvSpPr>
        <p:spPr bwMode="auto">
          <a:xfrm>
            <a:off x="395288" y="1700808"/>
            <a:ext cx="864076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l-GR" sz="4000" b="1" i="1" dirty="0"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ru-RU" sz="4000" b="1" dirty="0">
                <a:latin typeface="Times New Roman" pitchFamily="18" charset="0"/>
                <a:cs typeface="Times New Roman" pitchFamily="18" charset="0"/>
              </a:rPr>
              <a:t> – коэффициент, учитывающий</a:t>
            </a:r>
          </a:p>
          <a:p>
            <a:r>
              <a:rPr lang="ru-RU" sz="4000" b="1" dirty="0">
                <a:latin typeface="Times New Roman" pitchFamily="18" charset="0"/>
                <a:cs typeface="Times New Roman" pitchFamily="18" charset="0"/>
              </a:rPr>
              <a:t>      наличие канавок на поверхности </a:t>
            </a:r>
          </a:p>
          <a:p>
            <a:r>
              <a:rPr lang="ru-RU" sz="4000" b="1" dirty="0">
                <a:latin typeface="Times New Roman" pitchFamily="18" charset="0"/>
                <a:cs typeface="Times New Roman" pitchFamily="18" charset="0"/>
              </a:rPr>
              <a:t>     фрикционных накладок </a:t>
            </a:r>
          </a:p>
          <a:p>
            <a:r>
              <a:rPr lang="ru-RU" sz="4000" b="1" dirty="0">
                <a:latin typeface="Times New Roman" pitchFamily="18" charset="0"/>
                <a:cs typeface="Times New Roman" pitchFamily="18" charset="0"/>
              </a:rPr>
              <a:t>     (0,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4000" b="1" dirty="0">
                <a:latin typeface="Times New Roman" pitchFamily="18" charset="0"/>
                <a:cs typeface="Times New Roman" pitchFamily="18" charset="0"/>
              </a:rPr>
              <a:t> – 0,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ru-RU" sz="4000" b="1" dirty="0">
                <a:latin typeface="Times New Roman" pitchFamily="18" charset="0"/>
                <a:cs typeface="Times New Roman" pitchFamily="18" charset="0"/>
              </a:rPr>
              <a:t>);</a:t>
            </a:r>
            <a:endParaRPr lang="ru-RU" sz="4000" b="1" baseline="-25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100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Рис 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1787" y="548680"/>
            <a:ext cx="6426597" cy="518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0531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4"/>
          <p:cNvSpPr>
            <a:spLocks noChangeArrowheads="1"/>
          </p:cNvSpPr>
          <p:nvPr/>
        </p:nvSpPr>
        <p:spPr bwMode="auto">
          <a:xfrm>
            <a:off x="323850" y="1773238"/>
            <a:ext cx="819785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ru-RU" sz="4800" b="1" dirty="0">
                <a:latin typeface="Times New Roman" pitchFamily="18" charset="0"/>
                <a:cs typeface="Times New Roman" pitchFamily="18" charset="0"/>
              </a:rPr>
              <a:t>Ширина дисков:</a:t>
            </a:r>
          </a:p>
          <a:p>
            <a:endParaRPr lang="ru-RU" sz="4800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4800" b="1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sz="4800" b="1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l-GR" sz="4800" b="1" i="1" dirty="0">
                <a:latin typeface="Times New Roman" pitchFamily="18" charset="0"/>
                <a:cs typeface="Times New Roman" pitchFamily="18" charset="0"/>
              </a:rPr>
              <a:t>γ</a:t>
            </a:r>
            <a:r>
              <a:rPr lang="ru-RU" sz="4800" b="1" i="1" dirty="0">
                <a:latin typeface="Times New Roman" pitchFamily="18" charset="0"/>
                <a:cs typeface="Times New Roman" pitchFamily="18" charset="0"/>
              </a:rPr>
              <a:t> · </a:t>
            </a:r>
            <a:r>
              <a:rPr lang="en-US" sz="4800" b="1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sz="4800" b="1" baseline="-25000" dirty="0">
                <a:latin typeface="Times New Roman" pitchFamily="18" charset="0"/>
                <a:cs typeface="Times New Roman" pitchFamily="18" charset="0"/>
              </a:rPr>
              <a:t>н</a:t>
            </a:r>
          </a:p>
          <a:p>
            <a:endParaRPr lang="ru-RU" sz="36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295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4"/>
          <p:cNvSpPr>
            <a:spLocks noChangeArrowheads="1"/>
          </p:cNvSpPr>
          <p:nvPr/>
        </p:nvSpPr>
        <p:spPr bwMode="auto">
          <a:xfrm>
            <a:off x="755650" y="2349500"/>
            <a:ext cx="783748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ru-RU" sz="4800" b="1" dirty="0">
                <a:latin typeface="Times New Roman" pitchFamily="18" charset="0"/>
                <a:cs typeface="Times New Roman" pitchFamily="18" charset="0"/>
              </a:rPr>
              <a:t>Алгоритм </a:t>
            </a:r>
            <a:r>
              <a:rPr lang="ru-RU" sz="4800" b="1" dirty="0" smtClean="0">
                <a:latin typeface="Times New Roman" pitchFamily="18" charset="0"/>
                <a:cs typeface="Times New Roman" pitchFamily="18" charset="0"/>
              </a:rPr>
              <a:t>решения</a:t>
            </a:r>
            <a:endParaRPr lang="ru-RU" sz="48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178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4"/>
          <p:cNvSpPr>
            <a:spLocks noChangeArrowheads="1"/>
          </p:cNvSpPr>
          <p:nvPr/>
        </p:nvSpPr>
        <p:spPr bwMode="auto">
          <a:xfrm>
            <a:off x="326667" y="980728"/>
            <a:ext cx="8197850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ru-RU" sz="4800" b="1" dirty="0" smtClean="0">
                <a:latin typeface="Times New Roman" pitchFamily="18" charset="0"/>
                <a:cs typeface="Times New Roman" pitchFamily="18" charset="0"/>
              </a:rPr>
              <a:t>Расчетный момент</a:t>
            </a:r>
            <a:r>
              <a:rPr lang="ru-RU" sz="4800" b="1" dirty="0">
                <a:latin typeface="Times New Roman" pitchFamily="18" charset="0"/>
                <a:cs typeface="Times New Roman" pitchFamily="18" charset="0"/>
              </a:rPr>
              <a:t>, передаваемый фрикционом:</a:t>
            </a:r>
          </a:p>
          <a:p>
            <a:endParaRPr lang="ru-RU" sz="4800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4800" b="1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ru-RU" sz="4800" b="1" i="1" baseline="-25000" dirty="0" smtClean="0">
                <a:latin typeface="Times New Roman" pitchFamily="18" charset="0"/>
                <a:cs typeface="Times New Roman" pitchFamily="18" charset="0"/>
              </a:rPr>
              <a:t>р</a:t>
            </a:r>
            <a:r>
              <a:rPr lang="ru-RU" sz="4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800" b="1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l-GR" sz="4800" b="1" i="1" dirty="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ru-RU" sz="4800" b="1" i="1" dirty="0" err="1" smtClean="0"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ru-RU" sz="4800" b="1" baseline="-25000" dirty="0" err="1" smtClean="0">
                <a:latin typeface="Times New Roman" pitchFamily="18" charset="0"/>
                <a:cs typeface="Times New Roman" pitchFamily="18" charset="0"/>
              </a:rPr>
              <a:t>Мдв</a:t>
            </a:r>
            <a:r>
              <a:rPr lang="ru-RU" sz="4800" b="1" i="1" dirty="0" err="1" smtClean="0">
                <a:latin typeface="Times New Roman" pitchFamily="18" charset="0"/>
                <a:cs typeface="Times New Roman" pitchFamily="18" charset="0"/>
              </a:rPr>
              <a:t>М</a:t>
            </a:r>
            <a:r>
              <a:rPr lang="ru-RU" sz="4800" b="1" baseline="-25000" dirty="0" err="1" smtClean="0">
                <a:latin typeface="Times New Roman" pitchFamily="18" charset="0"/>
                <a:cs typeface="Times New Roman" pitchFamily="18" charset="0"/>
              </a:rPr>
              <a:t>дв</a:t>
            </a:r>
            <a:endParaRPr lang="ru-RU" sz="4800" b="1" baseline="-25000" dirty="0">
              <a:latin typeface="Times New Roman" pitchFamily="18" charset="0"/>
              <a:cs typeface="Times New Roman" pitchFamily="18" charset="0"/>
            </a:endParaRPr>
          </a:p>
          <a:p>
            <a:endParaRPr lang="ru-RU" sz="36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929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6"/>
          <p:cNvSpPr>
            <a:spLocks noChangeArrowheads="1"/>
          </p:cNvSpPr>
          <p:nvPr/>
        </p:nvSpPr>
        <p:spPr bwMode="auto">
          <a:xfrm>
            <a:off x="755650" y="2420938"/>
            <a:ext cx="777716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l-GR" sz="4800" b="1" i="1" dirty="0">
                <a:latin typeface="Times New Roman" pitchFamily="18" charset="0"/>
              </a:rPr>
              <a:t>β</a:t>
            </a:r>
            <a:r>
              <a:rPr lang="ru-RU" sz="4800" b="1" i="1" dirty="0">
                <a:latin typeface="Times New Roman" pitchFamily="18" charset="0"/>
              </a:rPr>
              <a:t> – </a:t>
            </a:r>
            <a:r>
              <a:rPr lang="ru-RU" sz="4800" b="1" dirty="0">
                <a:latin typeface="Times New Roman" pitchFamily="18" charset="0"/>
              </a:rPr>
              <a:t>коэффициент запаса </a:t>
            </a:r>
            <a:endParaRPr lang="ru-RU" sz="4800" b="1" dirty="0" smtClean="0">
              <a:latin typeface="Times New Roman" pitchFamily="18" charset="0"/>
            </a:endParaRPr>
          </a:p>
          <a:p>
            <a:r>
              <a:rPr lang="ru-RU" sz="4800" b="1" dirty="0">
                <a:latin typeface="Times New Roman" pitchFamily="18" charset="0"/>
              </a:rPr>
              <a:t> </a:t>
            </a:r>
            <a:r>
              <a:rPr lang="ru-RU" sz="4800" b="1" dirty="0" smtClean="0">
                <a:latin typeface="Times New Roman" pitchFamily="18" charset="0"/>
              </a:rPr>
              <a:t>     (</a:t>
            </a:r>
            <a:r>
              <a:rPr lang="ru-RU" sz="4800" b="1" dirty="0">
                <a:latin typeface="Times New Roman" pitchFamily="18" charset="0"/>
              </a:rPr>
              <a:t>1,1 – 1,3);</a:t>
            </a:r>
            <a:endParaRPr lang="el-GR" sz="4800" b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397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6"/>
          <p:cNvSpPr>
            <a:spLocks noChangeArrowheads="1"/>
          </p:cNvSpPr>
          <p:nvPr/>
        </p:nvSpPr>
        <p:spPr bwMode="auto">
          <a:xfrm>
            <a:off x="684213" y="1484313"/>
            <a:ext cx="820896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3600" b="1" i="1" dirty="0">
                <a:latin typeface="Times New Roman" pitchFamily="18" charset="0"/>
              </a:rPr>
              <a:t>K</a:t>
            </a:r>
            <a:r>
              <a:rPr lang="ru-RU" sz="3600" b="1" baseline="-25000" dirty="0" err="1">
                <a:latin typeface="Times New Roman" pitchFamily="18" charset="0"/>
              </a:rPr>
              <a:t>Мдв</a:t>
            </a:r>
            <a:r>
              <a:rPr lang="ru-RU" sz="3600" b="1" i="1" dirty="0">
                <a:latin typeface="Times New Roman" pitchFamily="18" charset="0"/>
              </a:rPr>
              <a:t> – </a:t>
            </a:r>
            <a:r>
              <a:rPr lang="ru-RU" sz="3600" b="1" dirty="0">
                <a:latin typeface="Times New Roman" pitchFamily="18" charset="0"/>
              </a:rPr>
              <a:t>коэффициент передаваемого</a:t>
            </a:r>
          </a:p>
          <a:p>
            <a:r>
              <a:rPr lang="ru-RU" sz="3600" b="1" dirty="0">
                <a:latin typeface="Times New Roman" pitchFamily="18" charset="0"/>
              </a:rPr>
              <a:t>            момента (определяется из</a:t>
            </a:r>
          </a:p>
          <a:p>
            <a:r>
              <a:rPr lang="ru-RU" sz="3600" b="1" dirty="0">
                <a:latin typeface="Times New Roman" pitchFamily="18" charset="0"/>
              </a:rPr>
              <a:t>            кинематического и силового</a:t>
            </a:r>
          </a:p>
          <a:p>
            <a:r>
              <a:rPr lang="ru-RU" sz="3600" b="1" dirty="0">
                <a:latin typeface="Times New Roman" pitchFamily="18" charset="0"/>
              </a:rPr>
              <a:t>            расчета кинематической</a:t>
            </a:r>
          </a:p>
          <a:p>
            <a:r>
              <a:rPr lang="ru-RU" sz="3600" b="1" dirty="0">
                <a:latin typeface="Times New Roman" pitchFamily="18" charset="0"/>
              </a:rPr>
              <a:t>            схемы коробки </a:t>
            </a:r>
            <a:r>
              <a:rPr lang="ru-RU" sz="3600" b="1" dirty="0" smtClean="0">
                <a:latin typeface="Times New Roman" pitchFamily="18" charset="0"/>
              </a:rPr>
              <a:t>передач</a:t>
            </a:r>
            <a:endParaRPr lang="en-US" sz="3600" b="1" dirty="0" smtClean="0">
              <a:latin typeface="Times New Roman" pitchFamily="18" charset="0"/>
            </a:endParaRPr>
          </a:p>
          <a:p>
            <a:r>
              <a:rPr lang="en-US" sz="3600" b="1" dirty="0">
                <a:latin typeface="Times New Roman" pitchFamily="18" charset="0"/>
              </a:rPr>
              <a:t> </a:t>
            </a:r>
            <a:r>
              <a:rPr lang="en-US" sz="3600" b="1" dirty="0" smtClean="0">
                <a:latin typeface="Times New Roman" pitchFamily="18" charset="0"/>
              </a:rPr>
              <a:t>           (</a:t>
            </a:r>
            <a:r>
              <a:rPr lang="ru-RU" sz="3600" b="1" dirty="0" smtClean="0">
                <a:latin typeface="Times New Roman" pitchFamily="18" charset="0"/>
              </a:rPr>
              <a:t>приложения </a:t>
            </a:r>
            <a:r>
              <a:rPr lang="en-US" sz="3600" b="1" dirty="0" smtClean="0">
                <a:latin typeface="Times New Roman" pitchFamily="18" charset="0"/>
              </a:rPr>
              <a:t>PKP4</a:t>
            </a:r>
            <a:r>
              <a:rPr lang="ru-RU" sz="3600" b="1" dirty="0" smtClean="0">
                <a:latin typeface="Times New Roman" pitchFamily="18" charset="0"/>
              </a:rPr>
              <a:t>);</a:t>
            </a:r>
            <a:endParaRPr lang="el-GR" sz="3600" b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643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6"/>
          <p:cNvSpPr>
            <a:spLocks noChangeArrowheads="1"/>
          </p:cNvSpPr>
          <p:nvPr/>
        </p:nvSpPr>
        <p:spPr bwMode="auto">
          <a:xfrm>
            <a:off x="179512" y="2420938"/>
            <a:ext cx="896448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ru-RU" sz="4800" b="1" i="1" dirty="0" err="1" smtClean="0">
                <a:latin typeface="Times New Roman" pitchFamily="18" charset="0"/>
              </a:rPr>
              <a:t>М</a:t>
            </a:r>
            <a:r>
              <a:rPr lang="ru-RU" sz="4800" b="1" baseline="-25000" dirty="0" err="1" smtClean="0">
                <a:latin typeface="Times New Roman" pitchFamily="18" charset="0"/>
              </a:rPr>
              <a:t>дв</a:t>
            </a:r>
            <a:r>
              <a:rPr lang="ru-RU" sz="4800" b="1" i="1" dirty="0" smtClean="0">
                <a:latin typeface="Times New Roman" pitchFamily="18" charset="0"/>
              </a:rPr>
              <a:t> </a:t>
            </a:r>
            <a:r>
              <a:rPr lang="ru-RU" sz="4800" b="1" i="1" dirty="0">
                <a:latin typeface="Times New Roman" pitchFamily="18" charset="0"/>
              </a:rPr>
              <a:t>– </a:t>
            </a:r>
            <a:r>
              <a:rPr lang="ru-RU" sz="4800" b="1" dirty="0" smtClean="0">
                <a:latin typeface="Times New Roman" pitchFamily="18" charset="0"/>
              </a:rPr>
              <a:t>максимальный момент</a:t>
            </a:r>
          </a:p>
          <a:p>
            <a:r>
              <a:rPr lang="ru-RU" sz="4800" b="1" dirty="0">
                <a:latin typeface="Times New Roman" pitchFamily="18" charset="0"/>
              </a:rPr>
              <a:t> </a:t>
            </a:r>
            <a:r>
              <a:rPr lang="ru-RU" sz="4800" b="1" dirty="0" smtClean="0">
                <a:latin typeface="Times New Roman" pitchFamily="18" charset="0"/>
              </a:rPr>
              <a:t>         двигателя;</a:t>
            </a:r>
            <a:endParaRPr lang="el-GR" sz="4800" b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658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21900" y="1124744"/>
            <a:ext cx="8197527" cy="4174091"/>
          </a:xfrm>
          <a:prstGeom prst="rect">
            <a:avLst/>
          </a:prstGeom>
          <a:blipFill rotWithShape="1">
            <a:blip r:embed="rId2"/>
            <a:stretch>
              <a:fillRect l="-2305" t="-2339"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ru-RU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669673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7504" y="764704"/>
            <a:ext cx="89289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Сила, действующая на пакет фрикционных дисков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699792" y="2708920"/>
                <a:ext cx="4310604" cy="7439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4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 smtClean="0"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ru-RU" sz="4000" b="1" i="1" smtClean="0">
                              <a:latin typeface="Cambria Math"/>
                            </a:rPr>
                            <m:t>д</m:t>
                          </m:r>
                        </m:sub>
                      </m:sSub>
                      <m:r>
                        <a:rPr lang="ru-RU" sz="4000" b="1" i="1" smtClean="0">
                          <a:latin typeface="Cambria Math"/>
                        </a:rPr>
                        <m:t>=(</m:t>
                      </m:r>
                      <m:r>
                        <a:rPr lang="ru-RU" sz="4000" b="1" i="1" smtClean="0">
                          <a:latin typeface="Cambria Math"/>
                        </a:rPr>
                        <m:t>𝟏</m:t>
                      </m:r>
                      <m:r>
                        <a:rPr lang="ru-RU" sz="4000" b="1" i="1" smtClean="0">
                          <a:latin typeface="Cambria Math"/>
                        </a:rPr>
                        <m:t>−</m:t>
                      </m:r>
                      <m:r>
                        <a:rPr lang="ru-RU" sz="4000" b="1" i="1" smtClean="0">
                          <a:latin typeface="Cambria Math"/>
                        </a:rPr>
                        <m:t>𝟎</m:t>
                      </m:r>
                      <m:r>
                        <a:rPr lang="ru-RU" sz="4000" b="1" i="1" smtClean="0">
                          <a:latin typeface="Cambria Math"/>
                        </a:rPr>
                        <m:t>,</m:t>
                      </m:r>
                      <m:r>
                        <a:rPr lang="ru-RU" sz="4000" b="1" i="1" smtClean="0">
                          <a:latin typeface="Cambria Math"/>
                        </a:rPr>
                        <m:t>𝟐</m:t>
                      </m:r>
                      <m:r>
                        <a:rPr lang="ru-RU" sz="4000" b="1" i="1" smtClean="0">
                          <a:latin typeface="Cambria Math"/>
                        </a:rPr>
                        <m:t>)</m:t>
                      </m:r>
                      <m:sSub>
                        <m:sSubPr>
                          <m:ctrlPr>
                            <a:rPr lang="ru-RU" sz="4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 smtClean="0"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ru-RU" sz="4000" b="1" i="1" smtClean="0">
                              <a:latin typeface="Cambria Math"/>
                            </a:rPr>
                            <m:t>п</m:t>
                          </m:r>
                        </m:sub>
                      </m:sSub>
                    </m:oMath>
                  </m:oMathPara>
                </a14:m>
                <a:endParaRPr lang="ru-RU" sz="4000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2708920"/>
                <a:ext cx="4310604" cy="74392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611560" y="4293096"/>
            <a:ext cx="799288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ru-RU" sz="3600" b="1" dirty="0" smtClean="0">
                <a:latin typeface="Times New Roman" pitchFamily="18" charset="0"/>
              </a:rPr>
              <a:t>0,2</a:t>
            </a:r>
            <a:r>
              <a:rPr lang="ru-RU" sz="3600" b="1" i="1" dirty="0" smtClean="0">
                <a:latin typeface="Times New Roman" pitchFamily="18" charset="0"/>
              </a:rPr>
              <a:t> </a:t>
            </a:r>
            <a:r>
              <a:rPr lang="ru-RU" sz="3600" b="1" dirty="0">
                <a:latin typeface="Times New Roman" pitchFamily="18" charset="0"/>
              </a:rPr>
              <a:t>– </a:t>
            </a:r>
            <a:r>
              <a:rPr lang="ru-RU" sz="3600" b="1" dirty="0" smtClean="0">
                <a:latin typeface="Times New Roman" pitchFamily="18" charset="0"/>
              </a:rPr>
              <a:t>учитывают силу действия </a:t>
            </a:r>
          </a:p>
          <a:p>
            <a:r>
              <a:rPr lang="ru-RU" sz="3600" b="1" dirty="0">
                <a:latin typeface="Times New Roman" pitchFamily="18" charset="0"/>
              </a:rPr>
              <a:t> </a:t>
            </a:r>
            <a:r>
              <a:rPr lang="ru-RU" sz="3600" b="1" dirty="0" smtClean="0">
                <a:latin typeface="Times New Roman" pitchFamily="18" charset="0"/>
              </a:rPr>
              <a:t>        отжимных пружин;</a:t>
            </a:r>
            <a:endParaRPr lang="el-GR" sz="3600" b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175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4"/>
          <p:cNvSpPr>
            <a:spLocks noChangeArrowheads="1"/>
          </p:cNvSpPr>
          <p:nvPr/>
        </p:nvSpPr>
        <p:spPr bwMode="auto">
          <a:xfrm>
            <a:off x="323850" y="1773238"/>
            <a:ext cx="8197850" cy="2122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ru-RU" sz="3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Сила, развиваемая поршнем:</a:t>
            </a:r>
          </a:p>
          <a:p>
            <a:endParaRPr lang="ru-RU" sz="36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6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sz="6000" b="1" baseline="-25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</a:t>
            </a:r>
            <a:r>
              <a:rPr lang="ru-RU" sz="6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6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sz="6000" b="1" i="1" baseline="-250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упр</a:t>
            </a:r>
            <a:r>
              <a:rPr lang="en-US" sz="6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ru-RU" sz="6000" b="1" i="1" baseline="-25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</a:t>
            </a:r>
          </a:p>
        </p:txBody>
      </p:sp>
    </p:spTree>
    <p:extLst>
      <p:ext uri="{BB962C8B-B14F-4D97-AF65-F5344CB8AC3E}">
        <p14:creationId xmlns:p14="http://schemas.microsoft.com/office/powerpoint/2010/main" val="2341187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"/>
          <p:cNvSpPr>
            <a:spLocks noChangeArrowheads="1"/>
          </p:cNvSpPr>
          <p:nvPr/>
        </p:nvSpPr>
        <p:spPr bwMode="auto">
          <a:xfrm>
            <a:off x="323528" y="1844824"/>
            <a:ext cx="864076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48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sz="4800" b="1" i="1" baseline="-25000" dirty="0" err="1">
                <a:latin typeface="Times New Roman" pitchFamily="18" charset="0"/>
                <a:cs typeface="Times New Roman" pitchFamily="18" charset="0"/>
              </a:rPr>
              <a:t>упр</a:t>
            </a:r>
            <a:r>
              <a:rPr lang="ru-RU" sz="4800" b="1" dirty="0">
                <a:latin typeface="Times New Roman" pitchFamily="18" charset="0"/>
                <a:cs typeface="Times New Roman" pitchFamily="18" charset="0"/>
              </a:rPr>
              <a:t> – давление в </a:t>
            </a:r>
            <a:r>
              <a:rPr lang="ru-RU" sz="4800" b="1" dirty="0" smtClean="0">
                <a:latin typeface="Times New Roman" pitchFamily="18" charset="0"/>
                <a:cs typeface="Times New Roman" pitchFamily="18" charset="0"/>
              </a:rPr>
              <a:t>системе </a:t>
            </a:r>
          </a:p>
          <a:p>
            <a:r>
              <a:rPr lang="ru-RU" sz="4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800" b="1" dirty="0" smtClean="0">
                <a:latin typeface="Times New Roman" pitchFamily="18" charset="0"/>
                <a:cs typeface="Times New Roman" pitchFamily="18" charset="0"/>
              </a:rPr>
              <a:t>         правления</a:t>
            </a:r>
            <a:r>
              <a:rPr lang="ru-RU" sz="4800" b="1" dirty="0">
                <a:latin typeface="Times New Roman" pitchFamily="18" charset="0"/>
                <a:cs typeface="Times New Roman" pitchFamily="18" charset="0"/>
              </a:rPr>
              <a:t>, </a:t>
            </a:r>
            <a:endParaRPr lang="ru-RU" sz="4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4800" b="1" dirty="0" smtClean="0">
                <a:latin typeface="Times New Roman" pitchFamily="18" charset="0"/>
                <a:cs typeface="Times New Roman" pitchFamily="18" charset="0"/>
              </a:rPr>
              <a:t>          (1,0 – 2,0 МПа);</a:t>
            </a:r>
            <a:endParaRPr lang="ru-RU" sz="4800" b="1" baseline="-25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4"/>
          <p:cNvSpPr>
            <a:spLocks noChangeArrowheads="1"/>
          </p:cNvSpPr>
          <p:nvPr/>
        </p:nvSpPr>
        <p:spPr bwMode="auto">
          <a:xfrm>
            <a:off x="323850" y="1773238"/>
            <a:ext cx="81978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ru-RU" sz="4800" b="1" dirty="0">
                <a:latin typeface="Times New Roman" pitchFamily="18" charset="0"/>
                <a:cs typeface="Times New Roman" pitchFamily="18" charset="0"/>
              </a:rPr>
              <a:t>Площадь поршня:</a:t>
            </a:r>
          </a:p>
        </p:txBody>
      </p:sp>
      <p:graphicFrame>
        <p:nvGraphicFramePr>
          <p:cNvPr id="39939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168113"/>
              </p:ext>
            </p:extLst>
          </p:nvPr>
        </p:nvGraphicFramePr>
        <p:xfrm>
          <a:off x="1006475" y="2924175"/>
          <a:ext cx="7534275" cy="172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23" name="Equation" r:id="rId3" imgW="1054080" imgH="241200" progId="Equation.DSMT4">
                  <p:embed/>
                </p:oleObj>
              </mc:Choice>
              <mc:Fallback>
                <p:oleObj name="Equation" r:id="rId3" imgW="10540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6475" y="2924175"/>
                        <a:ext cx="7534275" cy="172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00429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4"/>
          <p:cNvSpPr>
            <a:spLocks noChangeArrowheads="1"/>
          </p:cNvSpPr>
          <p:nvPr/>
        </p:nvSpPr>
        <p:spPr bwMode="auto">
          <a:xfrm>
            <a:off x="107504" y="908720"/>
            <a:ext cx="892854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3600" b="1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sz="3600" b="1" baseline="-25000" dirty="0" err="1" smtClean="0">
                <a:latin typeface="Times New Roman" pitchFamily="18" charset="0"/>
                <a:cs typeface="Times New Roman" pitchFamily="18" charset="0"/>
              </a:rPr>
              <a:t>Пв</a:t>
            </a:r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b="1" dirty="0">
                <a:latin typeface="Times New Roman" pitchFamily="18" charset="0"/>
                <a:cs typeface="Times New Roman" pitchFamily="18" charset="0"/>
              </a:rPr>
              <a:t>– внутренний радиус поршня</a:t>
            </a:r>
          </a:p>
          <a:p>
            <a:r>
              <a:rPr lang="ru-RU" sz="3600" b="1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  (</a:t>
            </a:r>
            <a:r>
              <a:rPr lang="ru-RU" sz="3600" b="1" dirty="0">
                <a:latin typeface="Times New Roman" pitchFamily="18" charset="0"/>
                <a:cs typeface="Times New Roman" pitchFamily="18" charset="0"/>
              </a:rPr>
              <a:t>определяется конструктивно), мм;</a:t>
            </a:r>
            <a:endParaRPr lang="ru-RU" sz="3600" b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179512" y="2495550"/>
            <a:ext cx="8856538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3600" b="1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sz="3600" b="1" baseline="-25000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Пн</a:t>
            </a:r>
            <a:r>
              <a:rPr lang="ru-RU" sz="3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sz="3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наружный </a:t>
            </a:r>
            <a:r>
              <a:rPr lang="ru-RU" sz="3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радиус поршня</a:t>
            </a:r>
          </a:p>
          <a:p>
            <a:r>
              <a:rPr lang="ru-RU" sz="3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ru-RU" sz="3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(</a:t>
            </a:r>
            <a:r>
              <a:rPr lang="ru-RU" sz="3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определяется конструктивно), мм;</a:t>
            </a:r>
            <a:endParaRPr lang="ru-RU" sz="3600" b="1" baseline="-25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4"/>
          <p:cNvSpPr>
            <a:spLocks noChangeArrowheads="1"/>
          </p:cNvSpPr>
          <p:nvPr/>
        </p:nvSpPr>
        <p:spPr bwMode="auto">
          <a:xfrm>
            <a:off x="288660" y="1484784"/>
            <a:ext cx="819785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ru-RU" sz="3600" b="1" dirty="0">
                <a:latin typeface="Times New Roman" pitchFamily="18" charset="0"/>
                <a:cs typeface="Times New Roman" pitchFamily="18" charset="0"/>
              </a:rPr>
              <a:t>Принимаемое число пар трения:</a:t>
            </a:r>
          </a:p>
          <a:p>
            <a:endParaRPr lang="ru-RU" sz="36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3600" b="1" dirty="0">
                <a:latin typeface="Times New Roman" pitchFamily="18" charset="0"/>
                <a:cs typeface="Times New Roman" pitchFamily="18" charset="0"/>
              </a:rPr>
              <a:t>расчетное число пар трения округляется до ближайшего большего четного числа.</a:t>
            </a:r>
          </a:p>
          <a:p>
            <a:pPr algn="ctr"/>
            <a:endParaRPr lang="ru-RU" sz="6000" b="1" baseline="-25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21900" y="1124744"/>
            <a:ext cx="8197527" cy="4728089"/>
          </a:xfrm>
          <a:prstGeom prst="rect">
            <a:avLst/>
          </a:prstGeom>
          <a:blipFill rotWithShape="1">
            <a:blip r:embed="rId2"/>
            <a:stretch>
              <a:fillRect l="-2305" t="-2065"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ru-RU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4"/>
          <p:cNvSpPr>
            <a:spLocks noChangeArrowheads="1"/>
          </p:cNvSpPr>
          <p:nvPr/>
        </p:nvSpPr>
        <p:spPr bwMode="auto">
          <a:xfrm>
            <a:off x="395288" y="1844675"/>
            <a:ext cx="8197850" cy="175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ru-RU" sz="36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Удельное давление на поверхности дисков не должно превышать допустимое </a:t>
            </a:r>
            <a:r>
              <a:rPr lang="en-US" sz="36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3600" b="1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36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endParaRPr lang="ru-RU" sz="6000" b="1" baseline="-2500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415258"/>
              </p:ext>
            </p:extLst>
          </p:nvPr>
        </p:nvGraphicFramePr>
        <p:xfrm>
          <a:off x="179512" y="476672"/>
          <a:ext cx="8718962" cy="55635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96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5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l" fontAlgn="ctr"/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311">
                <a:tc>
                  <a:txBody>
                    <a:bodyPr/>
                    <a:lstStyle/>
                    <a:p>
                      <a:pPr algn="l" fontAlgn="ctr"/>
                      <a:r>
                        <a:rPr lang="ru-RU" sz="1400" b="1" u="none" strike="noStrike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Максимальный </a:t>
                      </a:r>
                      <a:r>
                        <a:rPr lang="ru-RU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момент двигателя, </a:t>
                      </a:r>
                      <a:r>
                        <a:rPr lang="ru-RU" sz="1400" b="1" u="none" strike="no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Нм</a:t>
                      </a:r>
                      <a:endParaRPr lang="ru-RU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 b="1" i="0" u="none" strike="noStrike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3150,00</a:t>
                      </a:r>
                      <a:endParaRPr lang="ru-RU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543">
                <a:tc>
                  <a:txBody>
                    <a:bodyPr/>
                    <a:lstStyle/>
                    <a:p>
                      <a:pPr algn="l" fontAlgn="ctr"/>
                      <a:r>
                        <a:rPr lang="ru-RU" sz="1400" b="1" u="none" strike="noStrike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Внешний </a:t>
                      </a:r>
                      <a:r>
                        <a:rPr lang="ru-RU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радиус поршня, мм</a:t>
                      </a:r>
                      <a:endParaRPr lang="ru-RU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 b="1" i="0" u="none" strike="noStrike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225,00</a:t>
                      </a:r>
                      <a:endParaRPr lang="ru-RU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543">
                <a:tc>
                  <a:txBody>
                    <a:bodyPr/>
                    <a:lstStyle/>
                    <a:p>
                      <a:pPr algn="l" fontAlgn="ctr"/>
                      <a:r>
                        <a:rPr lang="ru-RU" sz="1400" b="1" u="none" strike="noStrike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Внутренний </a:t>
                      </a:r>
                      <a:r>
                        <a:rPr lang="ru-RU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радиус поршня, мм</a:t>
                      </a:r>
                      <a:endParaRPr lang="ru-RU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 b="1" i="0" u="none" strike="noStrike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200,00</a:t>
                      </a:r>
                      <a:endParaRPr lang="ru-RU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543">
                <a:tc>
                  <a:txBody>
                    <a:bodyPr/>
                    <a:lstStyle/>
                    <a:p>
                      <a:pPr algn="l" fontAlgn="ctr"/>
                      <a:r>
                        <a:rPr lang="ru-RU" sz="1400" b="1" u="none" strike="noStrike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Коэффициент </a:t>
                      </a:r>
                      <a:r>
                        <a:rPr lang="ru-RU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трения (0,08 - 0,12 для пары </a:t>
                      </a:r>
                      <a:r>
                        <a:rPr lang="ru-RU" sz="1400" b="1" u="none" strike="no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Ст-Мк</a:t>
                      </a:r>
                      <a:r>
                        <a:rPr lang="ru-RU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0,12 - 0,16 для пары </a:t>
                      </a:r>
                      <a:r>
                        <a:rPr lang="ru-RU" sz="1400" b="1" u="none" strike="no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Ст-Цллюлоза</a:t>
                      </a:r>
                      <a:r>
                        <a:rPr lang="ru-RU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 b="1" i="0" u="none" strike="noStrike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0,13</a:t>
                      </a:r>
                      <a:endParaRPr lang="ru-RU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3435">
                <a:tc>
                  <a:txBody>
                    <a:bodyPr/>
                    <a:lstStyle/>
                    <a:p>
                      <a:pPr algn="l" fontAlgn="ctr"/>
                      <a:r>
                        <a:rPr lang="ru-RU" sz="1400" b="1" u="none" strike="noStrike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Давление </a:t>
                      </a:r>
                      <a:r>
                        <a:rPr lang="ru-RU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 системе управления, (1 - 2 МПа)</a:t>
                      </a:r>
                      <a:endParaRPr lang="ru-RU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1,50</a:t>
                      </a:r>
                      <a:endParaRPr lang="ru-RU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7543">
                <a:tc>
                  <a:txBody>
                    <a:bodyPr/>
                    <a:lstStyle/>
                    <a:p>
                      <a:pPr algn="l" fontAlgn="ctr"/>
                      <a:r>
                        <a:rPr lang="ru-RU" sz="1400" b="1" u="none" strike="noStrike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Внутренний </a:t>
                      </a:r>
                      <a:r>
                        <a:rPr lang="ru-RU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радиус дисков, мм</a:t>
                      </a:r>
                      <a:endParaRPr lang="ru-RU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 b="1" i="0" u="none" strike="noStrike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225,00</a:t>
                      </a:r>
                      <a:endParaRPr lang="ru-RU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588">
                <a:tc>
                  <a:txBody>
                    <a:bodyPr/>
                    <a:lstStyle/>
                    <a:p>
                      <a:pPr algn="l" fontAlgn="ctr"/>
                      <a:r>
                        <a:rPr lang="ru-RU" sz="1400" b="1" u="none" strike="noStrike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b="1" u="none" strike="noStrike" dirty="0" err="1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Лямда</a:t>
                      </a:r>
                      <a:r>
                        <a:rPr lang="ru-RU" sz="1400" b="1" u="none" strike="noStrike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l-GR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λ) (0,2 -0,6)</a:t>
                      </a:r>
                      <a:endParaRPr lang="el-GR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0,20</a:t>
                      </a:r>
                      <a:endParaRPr lang="ru-RU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7534">
                <a:tc>
                  <a:txBody>
                    <a:bodyPr/>
                    <a:lstStyle/>
                    <a:p>
                      <a:pPr algn="l" fontAlgn="ctr"/>
                      <a:r>
                        <a:rPr lang="ru-RU" sz="1400" b="1" u="none" strike="noStrike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Гамма </a:t>
                      </a:r>
                      <a:r>
                        <a:rPr lang="ru-RU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l-GR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γ) (0,1 - 0,2)</a:t>
                      </a:r>
                      <a:endParaRPr lang="el-GR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 b="1" i="0" u="none" strike="noStrike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0,1100</a:t>
                      </a:r>
                      <a:endParaRPr lang="ru-RU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7543">
                <a:tc>
                  <a:txBody>
                    <a:bodyPr/>
                    <a:lstStyle/>
                    <a:p>
                      <a:pPr algn="l" fontAlgn="ctr"/>
                      <a:r>
                        <a:rPr lang="ru-RU" sz="1400" b="1" u="none" strike="noStrike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u="none" strike="noStrike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 </a:t>
                      </a: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l-GR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π)</a:t>
                      </a:r>
                      <a:endParaRPr lang="el-GR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 b="1" i="0" u="none" strike="noStrike" dirty="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3,14</a:t>
                      </a:r>
                      <a:endParaRPr lang="ru-RU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7543">
                <a:tc>
                  <a:txBody>
                    <a:bodyPr/>
                    <a:lstStyle/>
                    <a:p>
                      <a:pPr algn="l" fontAlgn="ctr"/>
                      <a:r>
                        <a:rPr lang="ru-RU" sz="1400" b="1" u="none" strike="noStrike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Коэффициент </a:t>
                      </a:r>
                      <a:r>
                        <a:rPr lang="ru-RU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запаса (1,1 -1,3)</a:t>
                      </a:r>
                      <a:endParaRPr lang="ru-RU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 b="1" i="0" u="none" strike="noStrike">
                        <a:solidFill>
                          <a:srgbClr val="3366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1,10</a:t>
                      </a:r>
                      <a:endParaRPr lang="ru-RU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7543">
                <a:tc>
                  <a:txBody>
                    <a:bodyPr/>
                    <a:lstStyle/>
                    <a:p>
                      <a:pPr algn="l" fontAlgn="ctr"/>
                      <a:r>
                        <a:rPr lang="ru-RU" sz="1400" b="1" u="none" strike="noStrike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Относительный </a:t>
                      </a:r>
                      <a:r>
                        <a:rPr lang="ru-RU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момент, воспринимаемый элементом управления</a:t>
                      </a:r>
                      <a:endParaRPr lang="ru-RU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 b="1" i="0" u="none" strike="noStrike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0,63</a:t>
                      </a:r>
                      <a:endParaRPr lang="ru-RU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0718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ru-RU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4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7543">
                <a:tc>
                  <a:txBody>
                    <a:bodyPr/>
                    <a:lstStyle/>
                    <a:p>
                      <a:pPr algn="l" fontAlgn="ctr"/>
                      <a:r>
                        <a:rPr lang="ru-RU" sz="1400" b="1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Момент</a:t>
                      </a:r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передаваемый фрикционным элементом, </a:t>
                      </a:r>
                      <a:r>
                        <a:rPr lang="ru-RU" sz="14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Нм</a:t>
                      </a:r>
                      <a:endParaRPr lang="ru-RU" sz="14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 b="1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1990,80</a:t>
                      </a:r>
                      <a:endParaRPr lang="ru-RU" sz="1400" b="1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7543">
                <a:tc>
                  <a:txBody>
                    <a:bodyPr/>
                    <a:lstStyle/>
                    <a:p>
                      <a:pPr algn="l" fontAlgn="ctr"/>
                      <a:r>
                        <a:rPr lang="ru-RU" sz="1400" b="1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Расчетный </a:t>
                      </a:r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момент фрикционного элемента, </a:t>
                      </a:r>
                      <a:r>
                        <a:rPr lang="ru-RU" sz="14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Нм</a:t>
                      </a:r>
                      <a:endParaRPr lang="ru-RU" sz="14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2189,88</a:t>
                      </a:r>
                      <a:endParaRPr lang="ru-RU" sz="1400" b="1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7543">
                <a:tc>
                  <a:txBody>
                    <a:bodyPr/>
                    <a:lstStyle/>
                    <a:p>
                      <a:pPr algn="l" fontAlgn="ctr"/>
                      <a:r>
                        <a:rPr lang="ru-RU" sz="1400" b="1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Внешний </a:t>
                      </a:r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радиус дисков, мм</a:t>
                      </a:r>
                      <a:endParaRPr lang="ru-RU" sz="14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 b="1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252,81</a:t>
                      </a:r>
                      <a:endParaRPr lang="ru-RU" sz="1400" b="1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7543">
                <a:tc>
                  <a:txBody>
                    <a:bodyPr/>
                    <a:lstStyle/>
                    <a:p>
                      <a:pPr algn="l" fontAlgn="ctr"/>
                      <a:r>
                        <a:rPr lang="ru-RU" sz="1400" b="1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Ширина </a:t>
                      </a:r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дисков, мм</a:t>
                      </a:r>
                      <a:endParaRPr lang="ru-RU" sz="14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 b="1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27,81</a:t>
                      </a:r>
                      <a:endParaRPr lang="ru-RU" sz="1400" b="1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7543">
                <a:tc>
                  <a:txBody>
                    <a:bodyPr/>
                    <a:lstStyle/>
                    <a:p>
                      <a:pPr algn="l" fontAlgn="ctr"/>
                      <a:r>
                        <a:rPr lang="ru-RU" sz="1400" b="1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Средний </a:t>
                      </a:r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радиус дисков, мм</a:t>
                      </a:r>
                      <a:endParaRPr lang="ru-RU" sz="14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 b="1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238,90</a:t>
                      </a:r>
                      <a:endParaRPr lang="ru-RU" sz="14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7543">
                <a:tc>
                  <a:txBody>
                    <a:bodyPr/>
                    <a:lstStyle/>
                    <a:p>
                      <a:pPr algn="l" fontAlgn="ctr"/>
                      <a:r>
                        <a:rPr lang="ru-RU" sz="1400" b="1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Площадь </a:t>
                      </a:r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поршня, </a:t>
                      </a:r>
                      <a:r>
                        <a:rPr lang="ru-RU" sz="1400" b="1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мм</a:t>
                      </a:r>
                      <a:r>
                        <a:rPr lang="ru-RU" sz="1400" b="1" u="none" strike="noStrike" baseline="30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400" b="1" i="0" u="none" strike="noStrike" baseline="30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 b="1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33362,50</a:t>
                      </a:r>
                      <a:endParaRPr lang="ru-RU" sz="14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7543">
                <a:tc>
                  <a:txBody>
                    <a:bodyPr/>
                    <a:lstStyle/>
                    <a:p>
                      <a:pPr algn="l" fontAlgn="ctr"/>
                      <a:r>
                        <a:rPr lang="ru-RU" sz="1400" b="1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Сила</a:t>
                      </a:r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развиваемая поршнем, Н</a:t>
                      </a:r>
                      <a:endParaRPr lang="ru-RU" sz="14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50043,75</a:t>
                      </a:r>
                      <a:endParaRPr lang="ru-RU" sz="14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7543">
                <a:tc>
                  <a:txBody>
                    <a:bodyPr/>
                    <a:lstStyle/>
                    <a:p>
                      <a:pPr algn="l" fontAlgn="ctr"/>
                      <a:r>
                        <a:rPr lang="ru-RU" sz="1400" b="1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Сила</a:t>
                      </a:r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воздействующая на пакет дисков, Н</a:t>
                      </a:r>
                      <a:endParaRPr lang="ru-RU" sz="14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 b="1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41703,13</a:t>
                      </a:r>
                      <a:endParaRPr lang="ru-RU" sz="14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7543">
                <a:tc>
                  <a:txBody>
                    <a:bodyPr/>
                    <a:lstStyle/>
                    <a:p>
                      <a:pPr algn="l" fontAlgn="ctr"/>
                      <a:r>
                        <a:rPr lang="ru-RU" sz="1400" b="1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Сила</a:t>
                      </a:r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развиваемая отжимной пружиной, Н</a:t>
                      </a:r>
                      <a:endParaRPr lang="ru-RU" sz="14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 b="1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8340,63</a:t>
                      </a:r>
                      <a:endParaRPr lang="ru-RU" sz="14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37543">
                <a:tc rowSpan="2">
                  <a:txBody>
                    <a:bodyPr/>
                    <a:lstStyle/>
                    <a:p>
                      <a:pPr algn="l" fontAlgn="ctr"/>
                      <a:r>
                        <a:rPr lang="ru-RU" sz="1400" b="1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Число </a:t>
                      </a:r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пар трения z (округляется до большего четного числа)</a:t>
                      </a:r>
                      <a:endParaRPr lang="ru-RU" sz="14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1,69</a:t>
                      </a:r>
                      <a:endParaRPr lang="ru-RU" sz="14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754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62855">
                <a:tc>
                  <a:txBody>
                    <a:bodyPr/>
                    <a:lstStyle/>
                    <a:p>
                      <a:pPr algn="l" fontAlgn="ctr"/>
                      <a:r>
                        <a:rPr lang="ru-RU" sz="1400" b="1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Удельное </a:t>
                      </a:r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давление в дисках, Мпа (&lt; 4 МПа)</a:t>
                      </a:r>
                      <a:endParaRPr lang="ru-RU" sz="14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1,25</a:t>
                      </a:r>
                      <a:endParaRPr lang="ru-RU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8" marR="4238" marT="42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026567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4"/>
          <p:cNvSpPr>
            <a:spLocks noChangeArrowheads="1"/>
          </p:cNvSpPr>
          <p:nvPr/>
        </p:nvSpPr>
        <p:spPr bwMode="auto">
          <a:xfrm>
            <a:off x="250825" y="1989138"/>
            <a:ext cx="8785225" cy="173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ru-RU" sz="3600" b="1" dirty="0">
                <a:latin typeface="Times New Roman" pitchFamily="18" charset="0"/>
                <a:cs typeface="Times New Roman" pitchFamily="18" charset="0"/>
              </a:rPr>
              <a:t>Зазор между дисками в выключенном состоянии фрикционного элемента управления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5"/>
          <p:cNvSpPr>
            <a:spLocks noChangeArrowheads="1"/>
          </p:cNvSpPr>
          <p:nvPr/>
        </p:nvSpPr>
        <p:spPr bwMode="auto">
          <a:xfrm>
            <a:off x="179512" y="1124744"/>
            <a:ext cx="8856984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ru-RU" sz="3600" b="1" i="1" dirty="0">
                <a:latin typeface="Times New Roman" pitchFamily="18" charset="0"/>
              </a:rPr>
              <a:t>Пара трения «металлокерамика -сталь</a:t>
            </a:r>
            <a:r>
              <a:rPr lang="ru-RU" sz="3600" b="1" i="1" dirty="0" smtClean="0">
                <a:latin typeface="Times New Roman" pitchFamily="18" charset="0"/>
              </a:rPr>
              <a:t>»:</a:t>
            </a:r>
            <a:endParaRPr lang="en-US" sz="3600" b="1" i="1" dirty="0" smtClean="0">
              <a:latin typeface="Times New Roman" pitchFamily="18" charset="0"/>
            </a:endParaRPr>
          </a:p>
          <a:p>
            <a:endParaRPr lang="ru-RU" sz="3600" b="1" i="1" dirty="0">
              <a:latin typeface="Times New Roman" pitchFamily="18" charset="0"/>
            </a:endParaRPr>
          </a:p>
          <a:p>
            <a:pPr algn="ctr"/>
            <a:r>
              <a:rPr lang="ru-RU" sz="6000" b="1" dirty="0">
                <a:latin typeface="Times New Roman" pitchFamily="18" charset="0"/>
              </a:rPr>
              <a:t>0,5 мм</a:t>
            </a: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467544" y="3248402"/>
            <a:ext cx="8497887" cy="267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ru-RU" sz="3600" b="1" i="1" dirty="0">
                <a:latin typeface="Times New Roman" pitchFamily="18" charset="0"/>
              </a:rPr>
              <a:t>Пара трения «материал на целлюлозной основе - сталь»:</a:t>
            </a:r>
            <a:endParaRPr lang="en-US" sz="3600" b="1" i="1" dirty="0">
              <a:latin typeface="Times New Roman" pitchFamily="18" charset="0"/>
            </a:endParaRPr>
          </a:p>
          <a:p>
            <a:endParaRPr lang="ru-RU" sz="3600" b="1" i="1" dirty="0">
              <a:latin typeface="Times New Roman" pitchFamily="18" charset="0"/>
            </a:endParaRPr>
          </a:p>
          <a:p>
            <a:pPr algn="ctr"/>
            <a:r>
              <a:rPr lang="ru-RU" sz="6000" b="1" dirty="0">
                <a:latin typeface="Times New Roman" pitchFamily="18" charset="0"/>
              </a:rPr>
              <a:t>0,25</a:t>
            </a:r>
            <a:r>
              <a:rPr lang="ru-RU" sz="3600" b="1" dirty="0">
                <a:latin typeface="Times New Roman" pitchFamily="18" charset="0"/>
              </a:rPr>
              <a:t> </a:t>
            </a:r>
            <a:r>
              <a:rPr lang="ru-RU" sz="6000" b="1" dirty="0">
                <a:latin typeface="Times New Roman" pitchFamily="18" charset="0"/>
              </a:rPr>
              <a:t>мм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95287" y="620688"/>
            <a:ext cx="849788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ru-RU" sz="3600" b="1" dirty="0" smtClean="0">
                <a:latin typeface="Times New Roman" pitchFamily="18" charset="0"/>
              </a:rPr>
              <a:t>Толщина дисков</a:t>
            </a:r>
          </a:p>
          <a:p>
            <a:endParaRPr lang="ru-RU" sz="3600" b="1" dirty="0" smtClean="0">
              <a:latin typeface="Times New Roman" pitchFamily="18" charset="0"/>
            </a:endParaRPr>
          </a:p>
          <a:p>
            <a:r>
              <a:rPr lang="ru-RU" sz="2400" b="1" dirty="0" smtClean="0">
                <a:latin typeface="Times New Roman" pitchFamily="18" charset="0"/>
              </a:rPr>
              <a:t>Для пары трения сталь-металлокерамика:</a:t>
            </a:r>
          </a:p>
          <a:p>
            <a:r>
              <a:rPr lang="ru-RU" sz="2400" b="1" dirty="0" smtClean="0">
                <a:latin typeface="Times New Roman" pitchFamily="18" charset="0"/>
              </a:rPr>
              <a:t>диски с накладками – 5 мм;</a:t>
            </a:r>
          </a:p>
          <a:p>
            <a:r>
              <a:rPr lang="ru-RU" sz="2400" b="1" dirty="0" smtClean="0">
                <a:latin typeface="Times New Roman" pitchFamily="18" charset="0"/>
              </a:rPr>
              <a:t>диски без накладок – 5 мм;</a:t>
            </a:r>
          </a:p>
          <a:p>
            <a:r>
              <a:rPr lang="ru-RU" sz="2400" b="1" dirty="0" smtClean="0">
                <a:latin typeface="Times New Roman" pitchFamily="18" charset="0"/>
              </a:rPr>
              <a:t>толщина накладок – 1 мм.</a:t>
            </a:r>
          </a:p>
          <a:p>
            <a:endParaRPr lang="ru-RU" sz="2400" b="1" dirty="0">
              <a:latin typeface="Times New Roman" pitchFamily="18" charset="0"/>
            </a:endParaRPr>
          </a:p>
          <a:p>
            <a:pPr lvl="0"/>
            <a:r>
              <a:rPr lang="ru-RU" sz="2400" b="1" dirty="0">
                <a:latin typeface="Times New Roman" pitchFamily="18" charset="0"/>
              </a:rPr>
              <a:t>Для пары трения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сталь-материал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на целлюлозной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основе: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b="1" dirty="0" smtClean="0">
                <a:latin typeface="Times New Roman" pitchFamily="18" charset="0"/>
              </a:rPr>
              <a:t>диски </a:t>
            </a:r>
            <a:r>
              <a:rPr lang="ru-RU" sz="2400" b="1" dirty="0">
                <a:latin typeface="Times New Roman" pitchFamily="18" charset="0"/>
              </a:rPr>
              <a:t>с накладками – </a:t>
            </a:r>
            <a:r>
              <a:rPr lang="ru-RU" sz="2400" b="1" dirty="0" smtClean="0">
                <a:latin typeface="Times New Roman" pitchFamily="18" charset="0"/>
              </a:rPr>
              <a:t>1,0 – 1</a:t>
            </a:r>
            <a:r>
              <a:rPr lang="ru-RU" sz="2400" b="1" dirty="0">
                <a:latin typeface="Times New Roman" pitchFamily="18" charset="0"/>
              </a:rPr>
              <a:t>,</a:t>
            </a:r>
            <a:r>
              <a:rPr lang="ru-RU" sz="2400" b="1" dirty="0" smtClean="0">
                <a:latin typeface="Times New Roman" pitchFamily="18" charset="0"/>
              </a:rPr>
              <a:t>5 </a:t>
            </a:r>
            <a:r>
              <a:rPr lang="ru-RU" sz="2400" b="1" dirty="0">
                <a:latin typeface="Times New Roman" pitchFamily="18" charset="0"/>
              </a:rPr>
              <a:t>мм;</a:t>
            </a:r>
          </a:p>
          <a:p>
            <a:r>
              <a:rPr lang="ru-RU" sz="2400" b="1" dirty="0">
                <a:latin typeface="Times New Roman" pitchFamily="18" charset="0"/>
              </a:rPr>
              <a:t>диски без накладок – </a:t>
            </a:r>
            <a:r>
              <a:rPr lang="ru-RU" sz="2400" b="1" dirty="0" smtClean="0">
                <a:latin typeface="Times New Roman" pitchFamily="18" charset="0"/>
              </a:rPr>
              <a:t>3 - 4 </a:t>
            </a:r>
            <a:r>
              <a:rPr lang="ru-RU" sz="2400" b="1" dirty="0">
                <a:latin typeface="Times New Roman" pitchFamily="18" charset="0"/>
              </a:rPr>
              <a:t>мм</a:t>
            </a:r>
            <a:r>
              <a:rPr lang="ru-RU" sz="2400" b="1" dirty="0" smtClean="0">
                <a:latin typeface="Times New Roman" pitchFamily="18" charset="0"/>
              </a:rPr>
              <a:t>.</a:t>
            </a:r>
          </a:p>
          <a:p>
            <a:r>
              <a:rPr lang="ru-RU" sz="2400" b="1" dirty="0">
                <a:latin typeface="Times New Roman" pitchFamily="18" charset="0"/>
              </a:rPr>
              <a:t>толщина накладок – 1 мм</a:t>
            </a:r>
            <a:r>
              <a:rPr lang="ru-RU" sz="2400" b="1" dirty="0" smtClean="0">
                <a:latin typeface="Times New Roman" pitchFamily="18" charset="0"/>
              </a:rPr>
              <a:t>.</a:t>
            </a:r>
            <a:endParaRPr lang="ru-RU" sz="2400" b="1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5"/>
          <p:cNvSpPr>
            <a:spLocks noChangeArrowheads="1"/>
          </p:cNvSpPr>
          <p:nvPr/>
        </p:nvSpPr>
        <p:spPr bwMode="auto">
          <a:xfrm>
            <a:off x="1475656" y="1820723"/>
            <a:ext cx="6576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sz="3600" b="1" dirty="0">
                <a:latin typeface="Times New Roman" pitchFamily="18" charset="0"/>
                <a:cs typeface="Times New Roman" pitchFamily="18" charset="0"/>
              </a:rPr>
              <a:t>Типы разгрузочных </a:t>
            </a:r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устройств</a:t>
            </a:r>
          </a:p>
          <a:p>
            <a:pPr algn="ctr"/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блокировочных муфт</a:t>
            </a:r>
            <a:endParaRPr lang="ru-RU" sz="36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4" descr="9-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24" y="404664"/>
            <a:ext cx="8640763" cy="520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29392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5"/>
          <p:cNvSpPr>
            <a:spLocks noChangeArrowheads="1"/>
          </p:cNvSpPr>
          <p:nvPr/>
        </p:nvSpPr>
        <p:spPr bwMode="auto">
          <a:xfrm>
            <a:off x="0" y="2433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3251" name="Object 4"/>
          <p:cNvGraphicFramePr>
            <a:graphicFrameLocks noChangeAspect="1"/>
          </p:cNvGraphicFramePr>
          <p:nvPr/>
        </p:nvGraphicFramePr>
        <p:xfrm>
          <a:off x="1116013" y="333375"/>
          <a:ext cx="7056437" cy="617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07" name="Bitmap Image" r:id="rId3" imgW="7763959" imgH="6800000" progId="Paint.Picture">
                  <p:embed/>
                </p:oleObj>
              </mc:Choice>
              <mc:Fallback>
                <p:oleObj name="Bitmap Image" r:id="rId3" imgW="7763959" imgH="6800000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333375"/>
                        <a:ext cx="7056437" cy="6170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5"/>
          <p:cNvSpPr>
            <a:spLocks noChangeArrowheads="1"/>
          </p:cNvSpPr>
          <p:nvPr/>
        </p:nvSpPr>
        <p:spPr bwMode="auto">
          <a:xfrm>
            <a:off x="0" y="22383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4275" name="Object 4"/>
          <p:cNvGraphicFramePr>
            <a:graphicFrameLocks noChangeAspect="1"/>
          </p:cNvGraphicFramePr>
          <p:nvPr/>
        </p:nvGraphicFramePr>
        <p:xfrm>
          <a:off x="900113" y="490538"/>
          <a:ext cx="7704137" cy="617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31" name="Bitmap Image" r:id="rId3" imgW="5866667" imgH="4715533" progId="Paint.Picture">
                  <p:embed/>
                </p:oleObj>
              </mc:Choice>
              <mc:Fallback>
                <p:oleObj name="Bitmap Image" r:id="rId3" imgW="5866667" imgH="4715533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90538"/>
                        <a:ext cx="7704137" cy="6173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7" name="Picture 3" descr="4-22a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7088" y="981075"/>
            <a:ext cx="3165475" cy="4525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1750" name="Picture 6" descr="4-22b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48263" y="1125538"/>
            <a:ext cx="3038475" cy="3514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3583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5"/>
          <p:cNvSpPr>
            <a:spLocks noChangeArrowheads="1"/>
          </p:cNvSpPr>
          <p:nvPr/>
        </p:nvSpPr>
        <p:spPr bwMode="auto">
          <a:xfrm>
            <a:off x="0" y="17192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5299" name="Object 4"/>
          <p:cNvGraphicFramePr>
            <a:graphicFrameLocks noChangeAspect="1"/>
          </p:cNvGraphicFramePr>
          <p:nvPr/>
        </p:nvGraphicFramePr>
        <p:xfrm>
          <a:off x="755650" y="260350"/>
          <a:ext cx="7777163" cy="631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55" name="Bitmap Image" r:id="rId3" imgW="9011908" imgH="7342857" progId="Paint.Picture">
                  <p:embed/>
                </p:oleObj>
              </mc:Choice>
              <mc:Fallback>
                <p:oleObj name="Bitmap Image" r:id="rId3" imgW="9011908" imgH="7342857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60350"/>
                        <a:ext cx="7777163" cy="631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4"/>
          <p:cNvSpPr>
            <a:spLocks noChangeArrowheads="1"/>
          </p:cNvSpPr>
          <p:nvPr/>
        </p:nvSpPr>
        <p:spPr bwMode="auto">
          <a:xfrm>
            <a:off x="868884" y="1710462"/>
            <a:ext cx="734536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ru-RU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Типы отжимных пружин</a:t>
            </a:r>
            <a:endParaRPr lang="ru-RU" sz="5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2629413"/>
              </p:ext>
            </p:extLst>
          </p:nvPr>
        </p:nvGraphicFramePr>
        <p:xfrm>
          <a:off x="1547664" y="188640"/>
          <a:ext cx="6629661" cy="6037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52" name="Точечный рисунок" r:id="rId3" imgW="10717121" imgH="9723810" progId="PBrush">
                  <p:embed/>
                </p:oleObj>
              </mc:Choice>
              <mc:Fallback>
                <p:oleObj name="Точечный рисунок" r:id="rId3" imgW="10717121" imgH="9723810" progId="PBrush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188640"/>
                        <a:ext cx="6629661" cy="60374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8631268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ChangeArrowheads="1"/>
          </p:cNvSpPr>
          <p:nvPr/>
        </p:nvSpPr>
        <p:spPr bwMode="auto">
          <a:xfrm>
            <a:off x="683568" y="1648422"/>
            <a:ext cx="7632700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ru-RU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Витые цилиндрические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Tx/>
              <a:buChar char="•"/>
            </a:pPr>
            <a:endParaRPr lang="en-US" sz="2800" b="1" dirty="0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9788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9"/>
          <p:cNvSpPr>
            <a:spLocks noChangeArrowheads="1"/>
          </p:cNvSpPr>
          <p:nvPr/>
        </p:nvSpPr>
        <p:spPr bwMode="auto">
          <a:xfrm>
            <a:off x="467544" y="260648"/>
            <a:ext cx="76327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ru-RU" sz="2800" b="1" dirty="0" smtClean="0">
                <a:latin typeface="Tahoma" pitchFamily="34" charset="0"/>
              </a:rPr>
              <a:t>Центральные</a:t>
            </a:r>
            <a:endParaRPr lang="ru-RU" i="1" dirty="0">
              <a:latin typeface="Tahoma" pitchFamily="34" charset="0"/>
            </a:endParaRPr>
          </a:p>
        </p:txBody>
      </p:sp>
      <p:sp>
        <p:nvSpPr>
          <p:cNvPr id="57347" name="Rectangle 21"/>
          <p:cNvSpPr>
            <a:spLocks noChangeArrowheads="1"/>
          </p:cNvSpPr>
          <p:nvPr/>
        </p:nvSpPr>
        <p:spPr bwMode="auto">
          <a:xfrm>
            <a:off x="0" y="2024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734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6669345"/>
              </p:ext>
            </p:extLst>
          </p:nvPr>
        </p:nvGraphicFramePr>
        <p:xfrm>
          <a:off x="107504" y="812840"/>
          <a:ext cx="4745903" cy="4320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07" name="Точечный рисунок" r:id="rId3" imgW="10717121" imgH="9723810" progId="PBrush">
                  <p:embed/>
                </p:oleObj>
              </mc:Choice>
              <mc:Fallback>
                <p:oleObj name="Точечный рисунок" r:id="rId3" imgW="10717121" imgH="9723810" progId="PBrush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4" y="812840"/>
                        <a:ext cx="4745903" cy="4320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7349" name="Picture 22" descr="4-1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3160" y="2780927"/>
            <a:ext cx="4392612" cy="396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4"/>
          <p:cNvSpPr>
            <a:spLocks noChangeArrowheads="1"/>
          </p:cNvSpPr>
          <p:nvPr/>
        </p:nvSpPr>
        <p:spPr bwMode="auto">
          <a:xfrm>
            <a:off x="468313" y="260350"/>
            <a:ext cx="7632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ru-RU" sz="2800" b="1">
                <a:latin typeface="Tahoma" pitchFamily="34" charset="0"/>
              </a:rPr>
              <a:t>Периферийные</a:t>
            </a:r>
            <a:endParaRPr lang="ru-RU" i="1">
              <a:latin typeface="Tahoma" pitchFamily="34" charset="0"/>
            </a:endParaRPr>
          </a:p>
        </p:txBody>
      </p:sp>
      <p:pic>
        <p:nvPicPr>
          <p:cNvPr id="58371" name="Picture 5" descr="4-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020" y="779463"/>
            <a:ext cx="6696075" cy="553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4"/>
          <p:cNvSpPr>
            <a:spLocks noChangeArrowheads="1"/>
          </p:cNvSpPr>
          <p:nvPr/>
        </p:nvSpPr>
        <p:spPr bwMode="auto">
          <a:xfrm>
            <a:off x="539750" y="188913"/>
            <a:ext cx="7632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ru-RU" sz="2800" b="1">
                <a:solidFill>
                  <a:srgbClr val="FFFF00"/>
                </a:solidFill>
                <a:latin typeface="Tahoma" pitchFamily="34" charset="0"/>
              </a:rPr>
              <a:t> </a:t>
            </a:r>
            <a:r>
              <a:rPr lang="ru-RU" sz="2800" b="1">
                <a:latin typeface="Tahoma" pitchFamily="34" charset="0"/>
              </a:rPr>
              <a:t>Тарельчатые</a:t>
            </a:r>
          </a:p>
        </p:txBody>
      </p:sp>
      <p:pic>
        <p:nvPicPr>
          <p:cNvPr id="59395" name="Picture 5" descr="4-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773113"/>
            <a:ext cx="8351837" cy="574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4"/>
          <p:cNvSpPr>
            <a:spLocks noChangeArrowheads="1"/>
          </p:cNvSpPr>
          <p:nvPr/>
        </p:nvSpPr>
        <p:spPr bwMode="auto">
          <a:xfrm>
            <a:off x="323850" y="115888"/>
            <a:ext cx="76327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ru-RU" sz="2800" b="1">
                <a:solidFill>
                  <a:srgbClr val="FFFF00"/>
                </a:solidFill>
                <a:latin typeface="Tahoma" pitchFamily="34" charset="0"/>
              </a:rPr>
              <a:t> </a:t>
            </a:r>
            <a:r>
              <a:rPr lang="ru-RU" sz="2800" b="1">
                <a:latin typeface="Tahoma" pitchFamily="34" charset="0"/>
              </a:rPr>
              <a:t>Волнообразные</a:t>
            </a:r>
          </a:p>
          <a:p>
            <a:pPr algn="ctr"/>
            <a:r>
              <a:rPr lang="ru-RU" sz="2800" b="1">
                <a:latin typeface="Tahoma" pitchFamily="34" charset="0"/>
              </a:rPr>
              <a:t>Простые</a:t>
            </a:r>
            <a:endParaRPr lang="ru-RU" i="1">
              <a:latin typeface="Tahoma" pitchFamily="34" charset="0"/>
            </a:endParaRPr>
          </a:p>
        </p:txBody>
      </p:sp>
      <p:pic>
        <p:nvPicPr>
          <p:cNvPr id="6041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1052513"/>
            <a:ext cx="6264275" cy="551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052513"/>
            <a:ext cx="7775575" cy="550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3" name="Rectangle 5"/>
          <p:cNvSpPr>
            <a:spLocks noChangeArrowheads="1"/>
          </p:cNvSpPr>
          <p:nvPr/>
        </p:nvSpPr>
        <p:spPr bwMode="auto">
          <a:xfrm>
            <a:off x="468313" y="260350"/>
            <a:ext cx="7632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ru-RU" sz="2800" b="1">
                <a:solidFill>
                  <a:srgbClr val="FFFF00"/>
                </a:solidFill>
                <a:latin typeface="Tahoma" pitchFamily="34" charset="0"/>
              </a:rPr>
              <a:t> </a:t>
            </a:r>
            <a:r>
              <a:rPr lang="ru-RU" sz="2800" b="1">
                <a:latin typeface="Tahoma" pitchFamily="34" charset="0"/>
              </a:rPr>
              <a:t>Сложные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32656"/>
            <a:ext cx="7423032" cy="5738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3745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5"/>
          <p:cNvSpPr>
            <a:spLocks noChangeArrowheads="1"/>
          </p:cNvSpPr>
          <p:nvPr/>
        </p:nvSpPr>
        <p:spPr bwMode="auto">
          <a:xfrm>
            <a:off x="684213" y="2636838"/>
            <a:ext cx="7632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ru-RU" sz="2800" b="1" dirty="0">
                <a:solidFill>
                  <a:srgbClr val="FFFF00"/>
                </a:solidFill>
                <a:latin typeface="Tahoma" pitchFamily="34" charset="0"/>
              </a:rPr>
              <a:t> </a:t>
            </a:r>
            <a:r>
              <a:rPr lang="ru-RU" sz="4000" b="1" dirty="0">
                <a:latin typeface="Tahoma" pitchFamily="34" charset="0"/>
              </a:rPr>
              <a:t>Стопорные кольца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53988"/>
            <a:ext cx="7129463" cy="648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4" descr="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31825"/>
            <a:ext cx="8569325" cy="591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15888"/>
            <a:ext cx="7561263" cy="652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ChangeArrowheads="1"/>
          </p:cNvSpPr>
          <p:nvPr/>
        </p:nvSpPr>
        <p:spPr bwMode="auto">
          <a:xfrm>
            <a:off x="684213" y="2636838"/>
            <a:ext cx="7632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ru-RU" sz="2800" b="1" dirty="0">
                <a:solidFill>
                  <a:srgbClr val="FFFF00"/>
                </a:solidFill>
                <a:latin typeface="Tahoma" pitchFamily="34" charset="0"/>
              </a:rPr>
              <a:t> </a:t>
            </a:r>
            <a:r>
              <a:rPr lang="ru-RU" sz="4000" b="1" dirty="0">
                <a:latin typeface="Tahoma" pitchFamily="34" charset="0"/>
              </a:rPr>
              <a:t>Картер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Дата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2C13ADC-93D4-4D86-8F03-52015DE5FF72}" type="datetime1">
              <a:rPr lang="ru-RU" smtClean="0"/>
              <a:pPr eaLnBrk="1" hangingPunct="1"/>
              <a:t>02.12.2025</a:t>
            </a:fld>
            <a:endParaRPr lang="ru-RU" smtClean="0"/>
          </a:p>
        </p:txBody>
      </p:sp>
      <p:pic>
        <p:nvPicPr>
          <p:cNvPr id="74755" name="Picture 8" descr="2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55BBFF"/>
              </a:clrFrom>
              <a:clrTo>
                <a:srgbClr val="55BB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90" t="8069" r="38409" b="26648"/>
          <a:stretch>
            <a:fillRect/>
          </a:stretch>
        </p:blipFill>
        <p:spPr bwMode="auto">
          <a:xfrm>
            <a:off x="179388" y="2278063"/>
            <a:ext cx="3822700" cy="388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6" name="Line 9"/>
          <p:cNvSpPr>
            <a:spLocks noChangeShapeType="1"/>
          </p:cNvSpPr>
          <p:nvPr/>
        </p:nvSpPr>
        <p:spPr bwMode="auto">
          <a:xfrm flipV="1">
            <a:off x="3203575" y="2349500"/>
            <a:ext cx="1008063" cy="395288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stealth" w="med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4757" name="Line 10"/>
          <p:cNvSpPr>
            <a:spLocks noChangeShapeType="1"/>
          </p:cNvSpPr>
          <p:nvPr/>
        </p:nvSpPr>
        <p:spPr bwMode="auto">
          <a:xfrm flipV="1">
            <a:off x="2843213" y="3573463"/>
            <a:ext cx="1584325" cy="136842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stealth" w="med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4758" name="Line 11"/>
          <p:cNvSpPr>
            <a:spLocks noChangeShapeType="1"/>
          </p:cNvSpPr>
          <p:nvPr/>
        </p:nvSpPr>
        <p:spPr bwMode="auto">
          <a:xfrm>
            <a:off x="2195513" y="5516563"/>
            <a:ext cx="1081087" cy="28892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stealth" w="med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4759" name="Text Box 12"/>
          <p:cNvSpPr txBox="1">
            <a:spLocks noChangeArrowheads="1"/>
          </p:cNvSpPr>
          <p:nvPr/>
        </p:nvSpPr>
        <p:spPr bwMode="auto">
          <a:xfrm>
            <a:off x="4213225" y="2205038"/>
            <a:ext cx="982663" cy="287337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1200" b="1">
                <a:latin typeface="Trebuchet MS" pitchFamily="34" charset="0"/>
              </a:rPr>
              <a:t>Картер ПМ</a:t>
            </a:r>
          </a:p>
        </p:txBody>
      </p:sp>
      <p:sp>
        <p:nvSpPr>
          <p:cNvPr id="74760" name="Text Box 13"/>
          <p:cNvSpPr txBox="1">
            <a:spLocks noChangeArrowheads="1"/>
          </p:cNvSpPr>
          <p:nvPr/>
        </p:nvSpPr>
        <p:spPr bwMode="auto">
          <a:xfrm>
            <a:off x="4427538" y="3429000"/>
            <a:ext cx="801687" cy="287338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1200" b="1">
                <a:latin typeface="Trebuchet MS" pitchFamily="34" charset="0"/>
              </a:rPr>
              <a:t>Суппорт</a:t>
            </a:r>
          </a:p>
        </p:txBody>
      </p:sp>
      <p:pic>
        <p:nvPicPr>
          <p:cNvPr id="74761" name="Picture 14" descr="3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55BBFF"/>
              </a:clrFrom>
              <a:clrTo>
                <a:srgbClr val="55BB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77" t="18141" r="48242" b="27704"/>
          <a:stretch>
            <a:fillRect/>
          </a:stretch>
        </p:blipFill>
        <p:spPr bwMode="auto">
          <a:xfrm>
            <a:off x="6418263" y="981075"/>
            <a:ext cx="2725737" cy="280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62" name="Picture 16" descr="39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55BBFF"/>
              </a:clrFrom>
              <a:clrTo>
                <a:srgbClr val="55BB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37" t="19206" r="47714" b="28230"/>
          <a:stretch>
            <a:fillRect/>
          </a:stretch>
        </p:blipFill>
        <p:spPr bwMode="auto">
          <a:xfrm>
            <a:off x="5795963" y="2420938"/>
            <a:ext cx="1931987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63" name="Line 17"/>
          <p:cNvSpPr>
            <a:spLocks noChangeShapeType="1"/>
          </p:cNvSpPr>
          <p:nvPr/>
        </p:nvSpPr>
        <p:spPr bwMode="auto">
          <a:xfrm flipH="1">
            <a:off x="5148263" y="2205038"/>
            <a:ext cx="1331912" cy="14446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stealth" w="med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4764" name="Line 18"/>
          <p:cNvSpPr>
            <a:spLocks noChangeShapeType="1"/>
          </p:cNvSpPr>
          <p:nvPr/>
        </p:nvSpPr>
        <p:spPr bwMode="auto">
          <a:xfrm flipV="1">
            <a:off x="2447925" y="2817813"/>
            <a:ext cx="1763713" cy="111601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stealth" w="med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4765" name="Text Box 19"/>
          <p:cNvSpPr txBox="1">
            <a:spLocks noChangeArrowheads="1"/>
          </p:cNvSpPr>
          <p:nvPr/>
        </p:nvSpPr>
        <p:spPr bwMode="auto">
          <a:xfrm>
            <a:off x="4213225" y="2673350"/>
            <a:ext cx="989013" cy="287338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1200" b="1">
                <a:latin typeface="Trebuchet MS" pitchFamily="34" charset="0"/>
              </a:rPr>
              <a:t>Прокладка</a:t>
            </a:r>
          </a:p>
        </p:txBody>
      </p:sp>
      <p:sp>
        <p:nvSpPr>
          <p:cNvPr id="74766" name="Line 20"/>
          <p:cNvSpPr>
            <a:spLocks noChangeShapeType="1"/>
          </p:cNvSpPr>
          <p:nvPr/>
        </p:nvSpPr>
        <p:spPr bwMode="auto">
          <a:xfrm flipH="1" flipV="1">
            <a:off x="5148263" y="2817813"/>
            <a:ext cx="828675" cy="3492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stealth" w="med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pic>
        <p:nvPicPr>
          <p:cNvPr id="74767" name="Picture 21" descr="32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55BBFF"/>
              </a:clrFrom>
              <a:clrTo>
                <a:srgbClr val="55BB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95" t="17088" r="48598" b="34070"/>
          <a:stretch>
            <a:fillRect/>
          </a:stretch>
        </p:blipFill>
        <p:spPr bwMode="auto">
          <a:xfrm>
            <a:off x="5724525" y="3392488"/>
            <a:ext cx="1249363" cy="1366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68" name="Text Box 22"/>
          <p:cNvSpPr txBox="1">
            <a:spLocks noChangeArrowheads="1"/>
          </p:cNvSpPr>
          <p:nvPr/>
        </p:nvSpPr>
        <p:spPr bwMode="auto">
          <a:xfrm>
            <a:off x="3276600" y="5662613"/>
            <a:ext cx="1039813" cy="287337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1200" b="1">
                <a:latin typeface="Trebuchet MS" pitchFamily="34" charset="0"/>
              </a:rPr>
              <a:t>Картер ГКК</a:t>
            </a:r>
          </a:p>
        </p:txBody>
      </p:sp>
      <p:pic>
        <p:nvPicPr>
          <p:cNvPr id="74769" name="Picture 23" descr="31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55BBFF"/>
              </a:clrFrom>
              <a:clrTo>
                <a:srgbClr val="55BB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12" t="9117" r="45430" b="27177"/>
          <a:stretch>
            <a:fillRect/>
          </a:stretch>
        </p:blipFill>
        <p:spPr bwMode="auto">
          <a:xfrm>
            <a:off x="4103688" y="3860800"/>
            <a:ext cx="2476500" cy="251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70" name="Line 24"/>
          <p:cNvSpPr>
            <a:spLocks noChangeShapeType="1"/>
          </p:cNvSpPr>
          <p:nvPr/>
        </p:nvSpPr>
        <p:spPr bwMode="auto">
          <a:xfrm flipH="1" flipV="1">
            <a:off x="5219700" y="3573463"/>
            <a:ext cx="720725" cy="25082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stealth" w="med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4771" name="Line 25"/>
          <p:cNvSpPr>
            <a:spLocks noChangeShapeType="1"/>
          </p:cNvSpPr>
          <p:nvPr/>
        </p:nvSpPr>
        <p:spPr bwMode="auto">
          <a:xfrm flipH="1">
            <a:off x="4284663" y="5589588"/>
            <a:ext cx="900112" cy="2159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stealth" w="med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ChangeArrowheads="1"/>
          </p:cNvSpPr>
          <p:nvPr/>
        </p:nvSpPr>
        <p:spPr bwMode="auto">
          <a:xfrm>
            <a:off x="755650" y="1844675"/>
            <a:ext cx="7632700" cy="1446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2800" b="1" dirty="0">
                <a:solidFill>
                  <a:srgbClr val="FFFF00"/>
                </a:solidFill>
                <a:latin typeface="Tahoma" pitchFamily="34" charset="0"/>
              </a:rPr>
              <a:t> </a:t>
            </a:r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Гидравлическая система АКПП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ChangeArrowheads="1"/>
          </p:cNvSpPr>
          <p:nvPr/>
        </p:nvSpPr>
        <p:spPr bwMode="auto">
          <a:xfrm>
            <a:off x="0" y="809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6803" name="Rectangle 3"/>
          <p:cNvSpPr>
            <a:spLocks noChangeArrowheads="1"/>
          </p:cNvSpPr>
          <p:nvPr/>
        </p:nvSpPr>
        <p:spPr bwMode="auto">
          <a:xfrm>
            <a:off x="107950" y="3716338"/>
            <a:ext cx="1657350" cy="576262"/>
          </a:xfrm>
          <a:prstGeom prst="rect">
            <a:avLst/>
          </a:prstGeom>
          <a:solidFill>
            <a:srgbClr val="CCFFCC"/>
          </a:solidFill>
          <a:ln w="25400">
            <a:solidFill>
              <a:srgbClr val="99CC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b="1"/>
              <a:t>Поддон</a:t>
            </a:r>
          </a:p>
        </p:txBody>
      </p:sp>
      <p:sp>
        <p:nvSpPr>
          <p:cNvPr id="76804" name="Rectangle 4"/>
          <p:cNvSpPr>
            <a:spLocks noChangeArrowheads="1"/>
          </p:cNvSpPr>
          <p:nvPr/>
        </p:nvSpPr>
        <p:spPr bwMode="auto">
          <a:xfrm>
            <a:off x="2268538" y="3716338"/>
            <a:ext cx="1728787" cy="576262"/>
          </a:xfrm>
          <a:prstGeom prst="rect">
            <a:avLst/>
          </a:prstGeom>
          <a:solidFill>
            <a:srgbClr val="CCFFCC"/>
          </a:solidFill>
          <a:ln w="25400">
            <a:solidFill>
              <a:srgbClr val="99CC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b="1"/>
              <a:t>Масляный </a:t>
            </a:r>
          </a:p>
          <a:p>
            <a:pPr algn="ctr"/>
            <a:r>
              <a:rPr lang="ru-RU" b="1"/>
              <a:t>фильтр</a:t>
            </a:r>
          </a:p>
        </p:txBody>
      </p:sp>
      <p:sp>
        <p:nvSpPr>
          <p:cNvPr id="76805" name="Rectangle 5"/>
          <p:cNvSpPr>
            <a:spLocks noChangeArrowheads="1"/>
          </p:cNvSpPr>
          <p:nvPr/>
        </p:nvSpPr>
        <p:spPr bwMode="auto">
          <a:xfrm>
            <a:off x="4500563" y="3716338"/>
            <a:ext cx="1727200" cy="576262"/>
          </a:xfrm>
          <a:prstGeom prst="rect">
            <a:avLst/>
          </a:prstGeom>
          <a:solidFill>
            <a:srgbClr val="CCFFCC"/>
          </a:solidFill>
          <a:ln w="25400">
            <a:solidFill>
              <a:srgbClr val="99CC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b="1"/>
              <a:t>Насос</a:t>
            </a:r>
          </a:p>
        </p:txBody>
      </p:sp>
      <p:sp>
        <p:nvSpPr>
          <p:cNvPr id="76806" name="Rectangle 6"/>
          <p:cNvSpPr>
            <a:spLocks noChangeArrowheads="1"/>
          </p:cNvSpPr>
          <p:nvPr/>
        </p:nvSpPr>
        <p:spPr bwMode="auto">
          <a:xfrm>
            <a:off x="6732588" y="3716338"/>
            <a:ext cx="2089150" cy="576262"/>
          </a:xfrm>
          <a:prstGeom prst="rect">
            <a:avLst/>
          </a:prstGeom>
          <a:solidFill>
            <a:srgbClr val="CCFFCC"/>
          </a:solidFill>
          <a:ln w="25400">
            <a:solidFill>
              <a:srgbClr val="99CC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b="1"/>
              <a:t>Регулятор </a:t>
            </a:r>
          </a:p>
          <a:p>
            <a:pPr algn="ctr"/>
            <a:r>
              <a:rPr lang="ru-RU" b="1"/>
              <a:t>давления</a:t>
            </a:r>
          </a:p>
        </p:txBody>
      </p:sp>
      <p:sp>
        <p:nvSpPr>
          <p:cNvPr id="76807" name="Rectangle 7"/>
          <p:cNvSpPr>
            <a:spLocks noChangeArrowheads="1"/>
          </p:cNvSpPr>
          <p:nvPr/>
        </p:nvSpPr>
        <p:spPr bwMode="auto">
          <a:xfrm>
            <a:off x="6300788" y="2060575"/>
            <a:ext cx="2592387" cy="576263"/>
          </a:xfrm>
          <a:prstGeom prst="rect">
            <a:avLst/>
          </a:prstGeom>
          <a:solidFill>
            <a:srgbClr val="FFC000"/>
          </a:solidFill>
          <a:ln w="25400">
            <a:solidFill>
              <a:srgbClr val="99CC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b="1"/>
              <a:t>Гидротрансформатор</a:t>
            </a:r>
          </a:p>
        </p:txBody>
      </p:sp>
      <p:sp>
        <p:nvSpPr>
          <p:cNvPr id="76808" name="Rectangle 8"/>
          <p:cNvSpPr>
            <a:spLocks noChangeArrowheads="1"/>
          </p:cNvSpPr>
          <p:nvPr/>
        </p:nvSpPr>
        <p:spPr bwMode="auto">
          <a:xfrm>
            <a:off x="3492500" y="2060575"/>
            <a:ext cx="2016125" cy="576263"/>
          </a:xfrm>
          <a:prstGeom prst="rect">
            <a:avLst/>
          </a:prstGeom>
          <a:solidFill>
            <a:srgbClr val="CCFFCC"/>
          </a:solidFill>
          <a:ln w="25400">
            <a:solidFill>
              <a:srgbClr val="99CC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b="1"/>
              <a:t>Система </a:t>
            </a:r>
          </a:p>
          <a:p>
            <a:pPr algn="ctr"/>
            <a:r>
              <a:rPr lang="ru-RU" b="1"/>
              <a:t>охлаждения</a:t>
            </a:r>
          </a:p>
        </p:txBody>
      </p:sp>
      <p:sp>
        <p:nvSpPr>
          <p:cNvPr id="76809" name="Rectangle 9"/>
          <p:cNvSpPr>
            <a:spLocks noChangeArrowheads="1"/>
          </p:cNvSpPr>
          <p:nvPr/>
        </p:nvSpPr>
        <p:spPr bwMode="auto">
          <a:xfrm>
            <a:off x="755650" y="2060575"/>
            <a:ext cx="1944688" cy="576263"/>
          </a:xfrm>
          <a:prstGeom prst="rect">
            <a:avLst/>
          </a:prstGeom>
          <a:solidFill>
            <a:srgbClr val="CCFFCC"/>
          </a:solidFill>
          <a:ln w="25400">
            <a:solidFill>
              <a:srgbClr val="99CC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b="1"/>
              <a:t>Сиситема </a:t>
            </a:r>
          </a:p>
          <a:p>
            <a:pPr algn="ctr"/>
            <a:r>
              <a:rPr lang="ru-RU" b="1"/>
              <a:t>смазки</a:t>
            </a:r>
          </a:p>
        </p:txBody>
      </p:sp>
      <p:sp>
        <p:nvSpPr>
          <p:cNvPr id="76810" name="Rectangle 10"/>
          <p:cNvSpPr>
            <a:spLocks noChangeArrowheads="1"/>
          </p:cNvSpPr>
          <p:nvPr/>
        </p:nvSpPr>
        <p:spPr bwMode="auto">
          <a:xfrm>
            <a:off x="6732588" y="5084763"/>
            <a:ext cx="2233612" cy="574675"/>
          </a:xfrm>
          <a:prstGeom prst="rect">
            <a:avLst/>
          </a:prstGeom>
          <a:solidFill>
            <a:srgbClr val="CCFFCC"/>
          </a:solidFill>
          <a:ln w="25400">
            <a:solidFill>
              <a:srgbClr val="99CC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b="1"/>
              <a:t>Система </a:t>
            </a:r>
          </a:p>
          <a:p>
            <a:pPr algn="ctr"/>
            <a:r>
              <a:rPr lang="ru-RU" b="1"/>
              <a:t>управления</a:t>
            </a:r>
          </a:p>
        </p:txBody>
      </p:sp>
      <p:sp>
        <p:nvSpPr>
          <p:cNvPr id="76811" name="Line 11"/>
          <p:cNvSpPr>
            <a:spLocks noChangeShapeType="1"/>
          </p:cNvSpPr>
          <p:nvPr/>
        </p:nvSpPr>
        <p:spPr bwMode="auto">
          <a:xfrm>
            <a:off x="1763713" y="4005263"/>
            <a:ext cx="504825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6812" name="Line 12"/>
          <p:cNvSpPr>
            <a:spLocks noChangeShapeType="1"/>
          </p:cNvSpPr>
          <p:nvPr/>
        </p:nvSpPr>
        <p:spPr bwMode="auto">
          <a:xfrm>
            <a:off x="3995738" y="4005263"/>
            <a:ext cx="504825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6813" name="Line 13"/>
          <p:cNvSpPr>
            <a:spLocks noChangeShapeType="1"/>
          </p:cNvSpPr>
          <p:nvPr/>
        </p:nvSpPr>
        <p:spPr bwMode="auto">
          <a:xfrm>
            <a:off x="6227763" y="4005263"/>
            <a:ext cx="504825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6814" name="Line 14"/>
          <p:cNvSpPr>
            <a:spLocks noChangeShapeType="1"/>
          </p:cNvSpPr>
          <p:nvPr/>
        </p:nvSpPr>
        <p:spPr bwMode="auto">
          <a:xfrm>
            <a:off x="7812088" y="4292600"/>
            <a:ext cx="0" cy="792163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6815" name="Line 15"/>
          <p:cNvSpPr>
            <a:spLocks noChangeShapeType="1"/>
          </p:cNvSpPr>
          <p:nvPr/>
        </p:nvSpPr>
        <p:spPr bwMode="auto">
          <a:xfrm flipV="1">
            <a:off x="7812088" y="2636838"/>
            <a:ext cx="0" cy="10795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6816" name="Line 16"/>
          <p:cNvSpPr>
            <a:spLocks noChangeShapeType="1"/>
          </p:cNvSpPr>
          <p:nvPr/>
        </p:nvSpPr>
        <p:spPr bwMode="auto">
          <a:xfrm flipH="1">
            <a:off x="5508625" y="2349500"/>
            <a:ext cx="792163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6817" name="Line 17"/>
          <p:cNvSpPr>
            <a:spLocks noChangeShapeType="1"/>
          </p:cNvSpPr>
          <p:nvPr/>
        </p:nvSpPr>
        <p:spPr bwMode="auto">
          <a:xfrm flipH="1">
            <a:off x="2700338" y="2349500"/>
            <a:ext cx="792162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6818" name="Line 18"/>
          <p:cNvSpPr>
            <a:spLocks noChangeShapeType="1"/>
          </p:cNvSpPr>
          <p:nvPr/>
        </p:nvSpPr>
        <p:spPr bwMode="auto">
          <a:xfrm>
            <a:off x="1042988" y="2636838"/>
            <a:ext cx="0" cy="10795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6819" name="Line 19"/>
          <p:cNvSpPr>
            <a:spLocks noChangeShapeType="1"/>
          </p:cNvSpPr>
          <p:nvPr/>
        </p:nvSpPr>
        <p:spPr bwMode="auto">
          <a:xfrm flipH="1">
            <a:off x="1042988" y="5373688"/>
            <a:ext cx="5689600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6820" name="Line 20"/>
          <p:cNvSpPr>
            <a:spLocks noChangeShapeType="1"/>
          </p:cNvSpPr>
          <p:nvPr/>
        </p:nvSpPr>
        <p:spPr bwMode="auto">
          <a:xfrm flipV="1">
            <a:off x="1042988" y="4292600"/>
            <a:ext cx="0" cy="1081088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61141" name="Rectangle 21"/>
          <p:cNvSpPr>
            <a:spLocks noChangeArrowheads="1"/>
          </p:cNvSpPr>
          <p:nvPr/>
        </p:nvSpPr>
        <p:spPr bwMode="auto">
          <a:xfrm>
            <a:off x="179388" y="304800"/>
            <a:ext cx="8748712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Структурная схема гидравлической системы АКПП</a:t>
            </a:r>
            <a:endParaRPr lang="ru-RU" sz="3600" b="1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/>
          <p:cNvSpPr>
            <a:spLocks noChangeArrowheads="1"/>
          </p:cNvSpPr>
          <p:nvPr/>
        </p:nvSpPr>
        <p:spPr bwMode="auto">
          <a:xfrm>
            <a:off x="179388" y="1844675"/>
            <a:ext cx="8748712" cy="2287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4800" b="1" dirty="0">
                <a:latin typeface="Times New Roman" pitchFamily="18" charset="0"/>
              </a:rPr>
              <a:t>Насос</a:t>
            </a:r>
          </a:p>
          <a:p>
            <a:pPr algn="ctr">
              <a:defRPr/>
            </a:pPr>
            <a:r>
              <a:rPr lang="ru-RU" sz="4800" b="1" dirty="0">
                <a:latin typeface="Times New Roman" pitchFamily="18" charset="0"/>
              </a:rPr>
              <a:t>шестеренчатый с внутренним</a:t>
            </a:r>
          </a:p>
          <a:p>
            <a:pPr algn="ctr">
              <a:defRPr/>
            </a:pPr>
            <a:r>
              <a:rPr lang="ru-RU" sz="4800" b="1" dirty="0">
                <a:latin typeface="Times New Roman" pitchFamily="18" charset="0"/>
              </a:rPr>
              <a:t>зацеплением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333375"/>
            <a:ext cx="6677025" cy="624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692696"/>
            <a:ext cx="6096058" cy="5427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504058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ChangeArrowheads="1"/>
          </p:cNvSpPr>
          <p:nvPr/>
        </p:nvSpPr>
        <p:spPr bwMode="auto">
          <a:xfrm>
            <a:off x="179388" y="1844675"/>
            <a:ext cx="8748712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4800" b="1" dirty="0">
                <a:latin typeface="Times New Roman" pitchFamily="18" charset="0"/>
              </a:rPr>
              <a:t>Насос</a:t>
            </a:r>
          </a:p>
          <a:p>
            <a:pPr algn="ctr">
              <a:defRPr/>
            </a:pPr>
            <a:r>
              <a:rPr lang="ru-RU" sz="4800" b="1" dirty="0">
                <a:latin typeface="Times New Roman" pitchFamily="18" charset="0"/>
              </a:rPr>
              <a:t>кулачкового тип</a:t>
            </a:r>
            <a:r>
              <a:rPr lang="ru-RU" sz="4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а</a:t>
            </a:r>
            <a:endParaRPr lang="ru-RU" sz="4800" b="1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2" descr="Untitled-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260350"/>
            <a:ext cx="5094288" cy="640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ChangeArrowheads="1"/>
          </p:cNvSpPr>
          <p:nvPr/>
        </p:nvSpPr>
        <p:spPr bwMode="auto">
          <a:xfrm>
            <a:off x="179388" y="1844675"/>
            <a:ext cx="8748712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4800" b="1" dirty="0">
                <a:latin typeface="Times New Roman" pitchFamily="18" charset="0"/>
              </a:rPr>
              <a:t>Насос</a:t>
            </a:r>
          </a:p>
          <a:p>
            <a:pPr algn="ctr">
              <a:defRPr/>
            </a:pPr>
            <a:r>
              <a:rPr lang="ru-RU" sz="4800" b="1" dirty="0">
                <a:latin typeface="Times New Roman" pitchFamily="18" charset="0"/>
              </a:rPr>
              <a:t>лопастного типа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Picture 2" descr="Untitled-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115888"/>
            <a:ext cx="5864225" cy="655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4"/>
          <p:cNvSpPr txBox="1">
            <a:spLocks noChangeArrowheads="1"/>
          </p:cNvSpPr>
          <p:nvPr/>
        </p:nvSpPr>
        <p:spPr bwMode="auto">
          <a:xfrm>
            <a:off x="250825" y="2781300"/>
            <a:ext cx="849788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смазки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04457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504825"/>
            <a:ext cx="9067800" cy="584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01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2" name="Picture 4" descr="Барабан М7-Т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DFE"/>
              </a:clrFrom>
              <a:clrTo>
                <a:srgbClr val="FFFD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765175"/>
            <a:ext cx="7143750" cy="535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Picture 4" descr="Барабан М8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052513"/>
            <a:ext cx="7143750" cy="535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ext Box 4"/>
          <p:cNvSpPr txBox="1">
            <a:spLocks noChangeArrowheads="1"/>
          </p:cNvSpPr>
          <p:nvPr/>
        </p:nvSpPr>
        <p:spPr bwMode="auto">
          <a:xfrm>
            <a:off x="250825" y="2781300"/>
            <a:ext cx="849788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ru-RU" sz="4400" b="1" dirty="0">
                <a:latin typeface="Tahoma" pitchFamily="34" charset="0"/>
              </a:rPr>
              <a:t>Система управления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extBox 1"/>
          <p:cNvSpPr txBox="1">
            <a:spLocks noChangeArrowheads="1"/>
          </p:cNvSpPr>
          <p:nvPr/>
        </p:nvSpPr>
        <p:spPr bwMode="auto">
          <a:xfrm>
            <a:off x="1187450" y="1844675"/>
            <a:ext cx="720090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4400" b="1" dirty="0"/>
              <a:t>ЭЛЕКТРИЧЕСКАЯ ЧАСТЬ</a:t>
            </a:r>
          </a:p>
          <a:p>
            <a:pPr eaLnBrk="1" hangingPunct="1"/>
            <a:endParaRPr lang="ru-RU" sz="4400" b="1" dirty="0"/>
          </a:p>
          <a:p>
            <a:pPr eaLnBrk="1" hangingPunct="1"/>
            <a:r>
              <a:rPr lang="ru-RU" sz="4400" b="1" dirty="0"/>
              <a:t>СИСТЕМЫ УПРАВЛЕНИЯ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620713"/>
            <a:ext cx="8856662" cy="582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468313" y="1382713"/>
            <a:ext cx="8135937" cy="206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tabLst>
                <a:tab pos="908050" algn="l"/>
              </a:tabLst>
              <a:defRPr/>
            </a:pPr>
            <a:r>
              <a:rPr lang="ru-RU" sz="3200" b="1" dirty="0">
                <a:solidFill>
                  <a:srgbClr val="FF9900"/>
                </a:solidFill>
              </a:rPr>
              <a:t>Датчики:</a:t>
            </a:r>
            <a:endParaRPr lang="en-US" sz="3200" b="1" dirty="0">
              <a:solidFill>
                <a:srgbClr val="FF9900"/>
              </a:solidFill>
            </a:endParaRPr>
          </a:p>
          <a:p>
            <a:pPr>
              <a:tabLst>
                <a:tab pos="908050" algn="l"/>
              </a:tabLst>
              <a:defRPr/>
            </a:pPr>
            <a:endParaRPr lang="en-US" sz="3200" b="1" dirty="0">
              <a:solidFill>
                <a:srgbClr val="FF9900"/>
              </a:solidFill>
            </a:endParaRPr>
          </a:p>
          <a:p>
            <a:pPr marL="457200" indent="-457200">
              <a:buClr>
                <a:schemeClr val="tx1"/>
              </a:buClr>
              <a:buFont typeface="Arial" pitchFamily="34" charset="0"/>
              <a:buChar char="•"/>
              <a:tabLst>
                <a:tab pos="908050" algn="l"/>
              </a:tabLst>
              <a:defRPr/>
            </a:pPr>
            <a:r>
              <a:rPr lang="ru-RU" sz="3200" b="1" dirty="0">
                <a:solidFill>
                  <a:schemeClr val="tx2"/>
                </a:solidFill>
              </a:rPr>
              <a:t>датчик частоты вращения ведущего вала;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323850" y="2235200"/>
            <a:ext cx="8135938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457200" indent="-457200">
              <a:buFont typeface="Arial" pitchFamily="34" charset="0"/>
              <a:buChar char="•"/>
              <a:tabLst>
                <a:tab pos="908050" algn="l"/>
              </a:tabLst>
              <a:defRPr/>
            </a:pPr>
            <a:r>
              <a:rPr lang="ru-RU" sz="3200" b="1" dirty="0">
                <a:solidFill>
                  <a:schemeClr val="tx2"/>
                </a:solidFill>
              </a:rPr>
              <a:t>датчик частоты вращения ведомого вала;</a:t>
            </a:r>
          </a:p>
          <a:p>
            <a:pPr>
              <a:buClr>
                <a:srgbClr val="FF3300"/>
              </a:buClr>
              <a:tabLst>
                <a:tab pos="908050" algn="l"/>
              </a:tabLst>
              <a:defRPr/>
            </a:pPr>
            <a:endParaRPr lang="ru-RU" sz="32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4"/>
          <p:cNvSpPr>
            <a:spLocks noChangeArrowheads="1"/>
          </p:cNvSpPr>
          <p:nvPr/>
        </p:nvSpPr>
        <p:spPr bwMode="auto">
          <a:xfrm>
            <a:off x="539750" y="1736725"/>
            <a:ext cx="8135938" cy="1077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457200" indent="-457200">
              <a:buFont typeface="Arial" charset="0"/>
              <a:buChar char="•"/>
              <a:tabLst>
                <a:tab pos="908050" algn="l"/>
              </a:tabLst>
            </a:pPr>
            <a:r>
              <a:rPr lang="ru-RU" sz="3200" b="1" dirty="0">
                <a:solidFill>
                  <a:schemeClr val="tx2"/>
                </a:solidFill>
              </a:rPr>
              <a:t>датчик температуры масла в коробке передач;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4"/>
          <p:cNvSpPr>
            <a:spLocks noChangeArrowheads="1"/>
          </p:cNvSpPr>
          <p:nvPr/>
        </p:nvSpPr>
        <p:spPr bwMode="auto">
          <a:xfrm>
            <a:off x="590550" y="2060575"/>
            <a:ext cx="8135938" cy="1077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457200" indent="-457200">
              <a:buFont typeface="Arial" charset="0"/>
              <a:buChar char="•"/>
              <a:tabLst>
                <a:tab pos="908050" algn="l"/>
              </a:tabLst>
            </a:pPr>
            <a:r>
              <a:rPr lang="ru-RU" sz="3200" b="1" dirty="0">
                <a:solidFill>
                  <a:schemeClr val="tx2"/>
                </a:solidFill>
              </a:rPr>
              <a:t>датчик положения рычага выбора режима работы коробки передач;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395288" y="1989138"/>
            <a:ext cx="8135937" cy="157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457200" indent="-457200">
              <a:buFont typeface="Arial" pitchFamily="34" charset="0"/>
              <a:buChar char="•"/>
              <a:tabLst>
                <a:tab pos="908050" algn="l"/>
              </a:tabLst>
              <a:defRPr/>
            </a:pPr>
            <a:r>
              <a:rPr lang="ru-RU" sz="3200" b="1" dirty="0">
                <a:solidFill>
                  <a:schemeClr val="tx2"/>
                </a:solidFill>
              </a:rPr>
              <a:t>датчик положения дроссельной заслонки двигателя;</a:t>
            </a:r>
          </a:p>
          <a:p>
            <a:pPr>
              <a:buClr>
                <a:srgbClr val="FF3300"/>
              </a:buClr>
              <a:tabLst>
                <a:tab pos="908050" algn="l"/>
              </a:tabLst>
              <a:defRPr/>
            </a:pPr>
            <a:endParaRPr lang="ru-RU" sz="32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4"/>
          <p:cNvSpPr>
            <a:spLocks noChangeArrowheads="1"/>
          </p:cNvSpPr>
          <p:nvPr/>
        </p:nvSpPr>
        <p:spPr bwMode="auto">
          <a:xfrm>
            <a:off x="406400" y="2500313"/>
            <a:ext cx="8135938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457200" indent="-457200">
              <a:buFont typeface="Arial" charset="0"/>
              <a:buChar char="•"/>
              <a:tabLst>
                <a:tab pos="908050" algn="l"/>
              </a:tabLst>
            </a:pPr>
            <a:r>
              <a:rPr lang="ru-RU" sz="3200" b="1" dirty="0">
                <a:solidFill>
                  <a:schemeClr val="tx2"/>
                </a:solidFill>
              </a:rPr>
              <a:t>датчик положения педали тормоза.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5"/>
          <p:cNvSpPr>
            <a:spLocks noChangeArrowheads="1"/>
          </p:cNvSpPr>
          <p:nvPr/>
        </p:nvSpPr>
        <p:spPr bwMode="auto">
          <a:xfrm>
            <a:off x="0" y="1662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98307" name="Object 4"/>
          <p:cNvGraphicFramePr>
            <a:graphicFrameLocks noChangeAspect="1"/>
          </p:cNvGraphicFramePr>
          <p:nvPr/>
        </p:nvGraphicFramePr>
        <p:xfrm>
          <a:off x="323850" y="1268413"/>
          <a:ext cx="8424863" cy="520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64" r:id="rId3" imgW="10196825" imgH="6298413" progId="CorelPhotoPaint.Image.11">
                  <p:embed/>
                </p:oleObj>
              </mc:Choice>
              <mc:Fallback>
                <p:oleObj r:id="rId3" imgW="10196825" imgH="6298413" progId="CorelPhotoPaint.Image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268413"/>
                        <a:ext cx="8424863" cy="5200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08" name="Text Box 6"/>
          <p:cNvSpPr txBox="1">
            <a:spLocks noChangeArrowheads="1"/>
          </p:cNvSpPr>
          <p:nvPr/>
        </p:nvSpPr>
        <p:spPr bwMode="auto">
          <a:xfrm>
            <a:off x="250825" y="188913"/>
            <a:ext cx="8642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ru-RU" sz="2800" b="1">
                <a:latin typeface="Trebuchet MS" pitchFamily="34" charset="0"/>
              </a:rPr>
              <a:t>Электронный блок управления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extBox 1"/>
          <p:cNvSpPr txBox="1">
            <a:spLocks noChangeArrowheads="1"/>
          </p:cNvSpPr>
          <p:nvPr/>
        </p:nvSpPr>
        <p:spPr bwMode="auto">
          <a:xfrm>
            <a:off x="179388" y="1844675"/>
            <a:ext cx="8785225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ru-RU" sz="4400" b="1" dirty="0"/>
              <a:t>ГИДРАВЛИЧЕСКАЯ ЧАСТЬ</a:t>
            </a:r>
          </a:p>
          <a:p>
            <a:pPr algn="ctr" eaLnBrk="1" hangingPunct="1"/>
            <a:endParaRPr lang="ru-RU" sz="4400" b="1" dirty="0"/>
          </a:p>
          <a:p>
            <a:pPr algn="ctr" eaLnBrk="1" hangingPunct="1"/>
            <a:r>
              <a:rPr lang="ru-RU" sz="4400" b="1" dirty="0"/>
              <a:t>СИСТЕМЫ УПРАВЛЕНИЯ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 descr="4я передач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692150"/>
            <a:ext cx="8713788" cy="5138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393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46" y="332656"/>
            <a:ext cx="2875207" cy="1452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0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850" y="2204864"/>
            <a:ext cx="2703974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0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80" y="4012749"/>
            <a:ext cx="5042254" cy="2232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005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636485"/>
            <a:ext cx="3675288" cy="237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183946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extBox 1"/>
          <p:cNvSpPr txBox="1">
            <a:spLocks noChangeArrowheads="1"/>
          </p:cNvSpPr>
          <p:nvPr/>
        </p:nvSpPr>
        <p:spPr bwMode="auto">
          <a:xfrm>
            <a:off x="179388" y="1844675"/>
            <a:ext cx="8785225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ru-RU" sz="4400" b="1" dirty="0"/>
              <a:t>Принцип работы регулятора давления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03427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1123277"/>
              </p:ext>
            </p:extLst>
          </p:nvPr>
        </p:nvGraphicFramePr>
        <p:xfrm>
          <a:off x="2267744" y="692696"/>
          <a:ext cx="5112568" cy="51125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11" name="Точечный рисунок" r:id="rId3" imgW="9326277" imgH="9326277" progId="Paint.Picture">
                  <p:embed/>
                </p:oleObj>
              </mc:Choice>
              <mc:Fallback>
                <p:oleObj name="Точечный рисунок" r:id="rId3" imgW="9326277" imgH="9326277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692696"/>
                        <a:ext cx="5112568" cy="51125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2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2552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113" y="690563"/>
            <a:ext cx="6581775" cy="547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808899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ext Box 4"/>
          <p:cNvSpPr txBox="1">
            <a:spLocks noChangeArrowheads="1"/>
          </p:cNvSpPr>
          <p:nvPr/>
        </p:nvSpPr>
        <p:spPr bwMode="auto">
          <a:xfrm>
            <a:off x="936625" y="2420938"/>
            <a:ext cx="746125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ru-RU" sz="6000" b="1">
                <a:solidFill>
                  <a:srgbClr val="002060"/>
                </a:solidFill>
                <a:latin typeface="Times New Roman" pitchFamily="18" charset="0"/>
              </a:rPr>
              <a:t>Соленоид «</a:t>
            </a:r>
            <a:r>
              <a:rPr lang="en-US" sz="6000" b="1">
                <a:solidFill>
                  <a:srgbClr val="002060"/>
                </a:solidFill>
                <a:latin typeface="Times New Roman" pitchFamily="18" charset="0"/>
              </a:rPr>
              <a:t>ON-OFF</a:t>
            </a:r>
            <a:r>
              <a:rPr lang="ru-RU" sz="6000" b="1">
                <a:solidFill>
                  <a:srgbClr val="002060"/>
                </a:solidFill>
                <a:latin typeface="Times New Roman" pitchFamily="18" charset="0"/>
              </a:rPr>
              <a:t>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ext Box 5"/>
          <p:cNvSpPr txBox="1">
            <a:spLocks noChangeArrowheads="1"/>
          </p:cNvSpPr>
          <p:nvPr/>
        </p:nvSpPr>
        <p:spPr bwMode="auto">
          <a:xfrm>
            <a:off x="250825" y="188913"/>
            <a:ext cx="8642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ru-RU" sz="2800" b="1">
                <a:latin typeface="Trebuchet MS" pitchFamily="34" charset="0"/>
              </a:rPr>
              <a:t>Соленоид</a:t>
            </a:r>
            <a:r>
              <a:rPr lang="ru-RU" sz="2000" b="1">
                <a:latin typeface="Trebuchet MS" pitchFamily="34" charset="0"/>
              </a:rPr>
              <a:t> </a:t>
            </a:r>
          </a:p>
        </p:txBody>
      </p:sp>
      <p:pic>
        <p:nvPicPr>
          <p:cNvPr id="10547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5" y="722313"/>
            <a:ext cx="8280400" cy="586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ext Box 4"/>
          <p:cNvSpPr txBox="1">
            <a:spLocks noChangeArrowheads="1"/>
          </p:cNvSpPr>
          <p:nvPr/>
        </p:nvSpPr>
        <p:spPr bwMode="auto">
          <a:xfrm>
            <a:off x="1814513" y="2420938"/>
            <a:ext cx="5707062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ru-RU" sz="6000" b="1">
                <a:solidFill>
                  <a:srgbClr val="002060"/>
                </a:solidFill>
                <a:latin typeface="Times New Roman" pitchFamily="18" charset="0"/>
              </a:rPr>
              <a:t>Соленоид </a:t>
            </a:r>
            <a:r>
              <a:rPr lang="en-US" sz="6000" b="1">
                <a:solidFill>
                  <a:srgbClr val="002060"/>
                </a:solidFill>
                <a:latin typeface="Times New Roman" pitchFamily="18" charset="0"/>
              </a:rPr>
              <a:t>PWM</a:t>
            </a:r>
            <a:endParaRPr lang="ru-RU" sz="6000" b="1">
              <a:solidFill>
                <a:srgbClr val="00206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22" name="Picture 4" descr="Соленоид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620713"/>
            <a:ext cx="8089900" cy="583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4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476250"/>
            <a:ext cx="7067550" cy="601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7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25" y="177800"/>
            <a:ext cx="8542338" cy="650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94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333375"/>
            <a:ext cx="8137525" cy="6103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618" name="Picture 2" descr="плита-каналы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1268413"/>
            <a:ext cx="4524375" cy="522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1619" name="Text Box 3"/>
          <p:cNvSpPr txBox="1">
            <a:spLocks noChangeArrowheads="1"/>
          </p:cNvSpPr>
          <p:nvPr/>
        </p:nvSpPr>
        <p:spPr bwMode="auto">
          <a:xfrm>
            <a:off x="250825" y="188913"/>
            <a:ext cx="86423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ru-RU" sz="2800" b="1">
                <a:solidFill>
                  <a:srgbClr val="002060"/>
                </a:solidFill>
                <a:latin typeface="Trebuchet MS" pitchFamily="34" charset="0"/>
              </a:rPr>
              <a:t>Гидравлический блок управления </a:t>
            </a:r>
          </a:p>
          <a:p>
            <a:pPr algn="ctr" eaLnBrk="1" hangingPunct="1"/>
            <a:r>
              <a:rPr lang="ru-RU" sz="2800" b="1">
                <a:solidFill>
                  <a:srgbClr val="002060"/>
                </a:solidFill>
                <a:latin typeface="Trebuchet MS" pitchFamily="34" charset="0"/>
              </a:rPr>
              <a:t>(клапанная плита)</a:t>
            </a:r>
            <a:r>
              <a:rPr lang="ru-RU" sz="2000" b="1">
                <a:solidFill>
                  <a:srgbClr val="002060"/>
                </a:solidFill>
                <a:latin typeface="Trebuchet MS" pitchFamily="34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0" y="1171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179388" y="260350"/>
          <a:ext cx="7993062" cy="608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98" name="Точечный рисунок" r:id="rId3" imgW="7887801" imgH="6001588" progId="Paint.Picture">
                  <p:embed/>
                </p:oleObj>
              </mc:Choice>
              <mc:Fallback>
                <p:oleObj name="Точечный рисунок" r:id="rId3" imgW="7887801" imgH="600158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260350"/>
                        <a:ext cx="7993062" cy="6081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6308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72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083015"/>
              </p:ext>
            </p:extLst>
          </p:nvPr>
        </p:nvGraphicFramePr>
        <p:xfrm>
          <a:off x="539550" y="620692"/>
          <a:ext cx="8136905" cy="5831026"/>
        </p:xfrm>
        <a:graphic>
          <a:graphicData uri="http://schemas.openxmlformats.org/drawingml/2006/table">
            <a:tbl>
              <a:tblPr/>
              <a:tblGrid>
                <a:gridCol w="1162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2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2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24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2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24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495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T2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T3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T7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M4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M7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M22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7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,</a:t>
                      </a:r>
                      <a:r>
                        <a:rPr kumimoji="0" lang="ru-RU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3,0</a:t>
                      </a: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2,00</a:t>
                      </a: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II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1,7</a:t>
                      </a: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1,00</a:t>
                      </a: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III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0,9</a:t>
                      </a: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1,30</a:t>
                      </a: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0,60</a:t>
                      </a: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IV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0,33</a:t>
                      </a: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0,13</a:t>
                      </a: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1,00</a:t>
                      </a: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0,21</a:t>
                      </a: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0,83</a:t>
                      </a: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0,35</a:t>
                      </a: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VI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0,62</a:t>
                      </a: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0,39</a:t>
                      </a: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6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VII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0,18</a:t>
                      </a: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1,15</a:t>
                      </a: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0,30</a:t>
                      </a: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6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VIII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0,21</a:t>
                      </a: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0,10</a:t>
                      </a: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1,00</a:t>
                      </a: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6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IX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0,38</a:t>
                      </a: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0,88</a:t>
                      </a: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0,25</a:t>
                      </a: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6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ЗХ</a:t>
                      </a:r>
                      <a:endParaRPr kumimoji="0" lang="ru-RU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7,7</a:t>
                      </a: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1,20</a:t>
                      </a: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2,00</a:t>
                      </a:r>
                      <a:endParaRPr kumimoji="0" lang="ru-RU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6139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44" name="Group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474595"/>
              </p:ext>
            </p:extLst>
          </p:nvPr>
        </p:nvGraphicFramePr>
        <p:xfrm>
          <a:off x="323850" y="836613"/>
          <a:ext cx="8642350" cy="5360640"/>
        </p:xfrm>
        <a:graphic>
          <a:graphicData uri="http://schemas.openxmlformats.org/drawingml/2006/table">
            <a:tbl>
              <a:tblPr/>
              <a:tblGrid>
                <a:gridCol w="1201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1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1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12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10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58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73719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Участок</a:t>
                      </a:r>
                      <a:endParaRPr kumimoji="0" lang="ru-RU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</a:t>
                      </a:r>
                      <a:r>
                        <a:rPr kumimoji="0" lang="ru-RU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τ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], </a:t>
                      </a:r>
                      <a:r>
                        <a:rPr kumimoji="0" lang="ru-RU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МПа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ru-RU" sz="24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ДВ</a:t>
                      </a:r>
                      <a:r>
                        <a:rPr kumimoji="0" lang="ru-RU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kumimoji="0" lang="ru-RU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Нм</a:t>
                      </a:r>
                      <a:endParaRPr kumimoji="0" lang="ru-RU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Коэффициент момента гидротрансформатора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ru-RU" sz="24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kumimoji="0" lang="ru-RU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Нм</a:t>
                      </a:r>
                      <a:endParaRPr kumimoji="0" lang="ru-RU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Коэффициент нагрузки участка </a:t>
                      </a:r>
                      <a:endParaRPr kumimoji="0" lang="ru-RU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r>
                        <a:rPr kumimoji="0" lang="en-US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min</a:t>
                      </a:r>
                      <a:r>
                        <a:rPr kumimoji="0" lang="ru-RU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мм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8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К1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250</a:t>
                      </a:r>
                      <a:endParaRPr kumimoji="0" lang="ru-RU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</a:t>
                      </a:r>
                      <a:endParaRPr kumimoji="0" lang="ru-RU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2,0</a:t>
                      </a:r>
                      <a:endParaRPr kumimoji="0" lang="ru-RU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1000</a:t>
                      </a:r>
                      <a:endParaRPr kumimoji="0" lang="ru-RU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1,0</a:t>
                      </a:r>
                      <a:endParaRPr kumimoji="0" lang="ru-RU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32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,</a:t>
                      </a:r>
                      <a:r>
                        <a:rPr kumimoji="0" lang="ru-RU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63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К2</a:t>
                      </a:r>
                      <a:endParaRPr kumimoji="0" lang="ru-RU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1,2</a:t>
                      </a:r>
                      <a:endParaRPr kumimoji="0" lang="ru-RU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34,2</a:t>
                      </a:r>
                      <a:endParaRPr kumimoji="0" lang="ru-RU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634"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К3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3,0</a:t>
                      </a:r>
                      <a:endParaRPr kumimoji="0" lang="ru-RU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46,5</a:t>
                      </a:r>
                      <a:endParaRPr kumimoji="0" lang="ru-RU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1,15</a:t>
                      </a:r>
                      <a:endParaRPr kumimoji="0" lang="ru-RU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33,8</a:t>
                      </a:r>
                      <a:endParaRPr kumimoji="0" lang="ru-RU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8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К4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8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К5</a:t>
                      </a:r>
                      <a:endParaRPr kumimoji="0" lang="ru-RU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2,2</a:t>
                      </a:r>
                      <a:endParaRPr kumimoji="0" lang="ru-RU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41,5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К6</a:t>
                      </a:r>
                      <a:endParaRPr kumimoji="0" lang="ru-RU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763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1,3</a:t>
                      </a:r>
                      <a:endParaRPr kumimoji="0" lang="ru-RU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35,2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763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K7</a:t>
                      </a:r>
                      <a:endParaRPr kumimoji="0" lang="ru-RU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5,5</a:t>
                      </a:r>
                      <a:endParaRPr kumimoji="0" lang="ru-RU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56,9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0216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053738"/>
              </p:ext>
            </p:extLst>
          </p:nvPr>
        </p:nvGraphicFramePr>
        <p:xfrm>
          <a:off x="539552" y="404664"/>
          <a:ext cx="8064893" cy="61266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6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194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909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84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5247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1882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4080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D, </a:t>
                      </a:r>
                      <a:r>
                        <a:rPr lang="ru-RU" sz="1200" u="none" strike="noStrike" dirty="0">
                          <a:effectLst/>
                        </a:rPr>
                        <a:t>мм</a:t>
                      </a:r>
                      <a:endParaRPr lang="ru-RU" sz="1200" b="1" i="1" u="none" strike="noStrike" dirty="0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m</a:t>
                      </a:r>
                      <a:endParaRPr lang="en-US" sz="1200" b="1" i="1" u="none" strike="noStrike" dirty="0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S</a:t>
                      </a:r>
                      <a:r>
                        <a:rPr lang="en-US" sz="1200" u="none" strike="noStrike" baseline="-25000">
                          <a:effectLst/>
                        </a:rPr>
                        <a:t>F</a:t>
                      </a:r>
                      <a:r>
                        <a:rPr lang="en-US" sz="1200" u="none" strike="noStrike">
                          <a:effectLst/>
                        </a:rPr>
                        <a:t>, </a:t>
                      </a:r>
                      <a:r>
                        <a:rPr lang="ru-RU" sz="1200" u="none" strike="noStrike">
                          <a:effectLst/>
                        </a:rPr>
                        <a:t>мм3/м</a:t>
                      </a:r>
                      <a:endParaRPr lang="ru-RU" sz="1200" b="1" i="1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М, </a:t>
                      </a:r>
                      <a:r>
                        <a:rPr lang="en-US" sz="1200" u="none" strike="noStrike">
                          <a:effectLst/>
                        </a:rPr>
                        <a:t>H</a:t>
                      </a:r>
                      <a:r>
                        <a:rPr lang="ru-RU" sz="1200" u="none" strike="noStrike">
                          <a:effectLst/>
                        </a:rPr>
                        <a:t>м</a:t>
                      </a:r>
                      <a:endParaRPr lang="ru-RU" sz="1200" b="1" i="0" u="none" strike="noStrike">
                        <a:solidFill>
                          <a:srgbClr val="FF0000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HRC</a:t>
                      </a:r>
                      <a:endParaRPr lang="en-US" sz="1200" b="1" i="0" u="none" strike="noStrike">
                        <a:solidFill>
                          <a:srgbClr val="FF0000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SIGMA</a:t>
                      </a:r>
                      <a:endParaRPr lang="en-US" sz="1200" b="1" i="0" u="none" strike="noStrike">
                        <a:solidFill>
                          <a:srgbClr val="FF0000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L, </a:t>
                      </a:r>
                      <a:r>
                        <a:rPr lang="ru-RU" sz="1200" u="none" strike="noStrike">
                          <a:effectLst/>
                        </a:rPr>
                        <a:t>мм</a:t>
                      </a:r>
                      <a:endParaRPr lang="ru-RU" sz="1200" b="1" i="0" u="none" strike="noStrike">
                        <a:solidFill>
                          <a:srgbClr val="FF0000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1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u="none" strike="noStrike">
                          <a:effectLst/>
                        </a:rPr>
                        <a:t>0,8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u="none" strike="noStrike">
                          <a:effectLst/>
                        </a:rPr>
                        <a:t>1,25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u="none" strike="noStrike">
                          <a:effectLst/>
                        </a:rPr>
                        <a:t>2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u="none" strike="noStrike">
                          <a:effectLst/>
                        </a:rPr>
                        <a:t>3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u="none" strike="noStrike">
                          <a:effectLst/>
                        </a:rPr>
                        <a:t>5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8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2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15</a:t>
                      </a:r>
                      <a:endParaRPr lang="ru-RU" sz="1200" b="1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17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87,00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2000,00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383,14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2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17</a:t>
                      </a:r>
                      <a:endParaRPr lang="ru-RU" sz="1200" b="1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12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111,00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2000,00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300,30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2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</a:t>
                      </a:r>
                      <a:endParaRPr lang="ru-RU" sz="1200" b="1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23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14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</a:rPr>
                        <a:t> </a:t>
                      </a:r>
                      <a:endParaRPr lang="ru-RU" sz="12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153,00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2000,00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217,86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2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25</a:t>
                      </a:r>
                      <a:endParaRPr lang="ru-RU" sz="1200" b="1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30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18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</a:rPr>
                        <a:t> </a:t>
                      </a:r>
                      <a:endParaRPr lang="ru-RU" sz="12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251,00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2000,00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132,80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2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30</a:t>
                      </a:r>
                      <a:endParaRPr lang="ru-RU" sz="1200" b="1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36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22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</a:rPr>
                        <a:t> </a:t>
                      </a:r>
                      <a:endParaRPr lang="ru-RU" sz="12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367,00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2000,00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90,83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72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35</a:t>
                      </a:r>
                      <a:endParaRPr lang="ru-RU" sz="1200" b="1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26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16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</a:rPr>
                        <a:t> </a:t>
                      </a:r>
                      <a:endParaRPr lang="ru-RU" sz="12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484,00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2000,00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68,87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72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40</a:t>
                      </a:r>
                      <a:endParaRPr lang="ru-RU" sz="1200" b="1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30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18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635,00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2000,00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52,49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72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45</a:t>
                      </a:r>
                      <a:endParaRPr lang="ru-RU" sz="1200" b="1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34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21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825,00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2000,00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40,40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72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50</a:t>
                      </a:r>
                      <a:endParaRPr lang="ru-RU" sz="1200" b="1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38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24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1039,00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2000,00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32,08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72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55</a:t>
                      </a:r>
                      <a:endParaRPr lang="ru-RU" sz="1200" b="1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26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17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1217,00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2286,00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31,31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72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60</a:t>
                      </a:r>
                      <a:endParaRPr lang="ru-RU" sz="1200" b="1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28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18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1423,00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</a:rPr>
                        <a:t>2286,00</a:t>
                      </a:r>
                      <a:endParaRPr lang="ru-RU" sz="1200" b="0" i="0" u="none" strike="noStrike" dirty="0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26,77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72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65</a:t>
                      </a:r>
                      <a:endParaRPr lang="ru-RU" sz="1200" b="1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31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1716,00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2680,00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26,03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72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70</a:t>
                      </a:r>
                      <a:endParaRPr lang="ru-RU" sz="1200" b="1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34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22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2035,00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2000,00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16,38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72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75</a:t>
                      </a:r>
                      <a:endParaRPr lang="ru-RU" sz="1200" b="1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36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24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2349,00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2000,00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14,19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72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80</a:t>
                      </a:r>
                      <a:endParaRPr lang="ru-RU" sz="1200" b="1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38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25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2633,00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2000,00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12,66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772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85</a:t>
                      </a:r>
                      <a:endParaRPr lang="ru-RU" sz="1200" b="1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27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15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2844,00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2000,00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11,72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772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90</a:t>
                      </a:r>
                      <a:endParaRPr lang="ru-RU" sz="1200" b="1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28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16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3174,00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12000,00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</a:rPr>
                        <a:t>63,01</a:t>
                      </a:r>
                      <a:endParaRPr lang="ru-RU" sz="1200" b="1" i="0" u="none" strike="noStrike" dirty="0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772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95</a:t>
                      </a:r>
                      <a:endParaRPr lang="ru-RU" sz="1200" b="1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30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18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3685,00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2000,00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</a:rPr>
                        <a:t>9,05</a:t>
                      </a:r>
                      <a:endParaRPr lang="ru-RU" sz="1200" b="1" i="0" u="none" strike="noStrike" dirty="0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772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100</a:t>
                      </a:r>
                      <a:endParaRPr lang="ru-RU" sz="1200" b="1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32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18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4019,00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2680,00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11,11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772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110</a:t>
                      </a:r>
                      <a:endParaRPr lang="ru-RU" sz="1200" b="1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35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4890,00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2000,00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</a:rPr>
                        <a:t>6,82</a:t>
                      </a:r>
                      <a:endParaRPr lang="ru-RU" sz="1200" b="1" i="0" u="none" strike="noStrike" dirty="0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772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120</a:t>
                      </a:r>
                      <a:endParaRPr lang="ru-RU" sz="1200" b="1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38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22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5847,00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2000,00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5,70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772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140</a:t>
                      </a:r>
                      <a:endParaRPr lang="ru-RU" sz="1200" b="1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45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26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8110,00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2000,00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4,11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772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160</a:t>
                      </a:r>
                      <a:endParaRPr lang="ru-RU" sz="1200" b="1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52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30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18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10460,00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2000,00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3,19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772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180</a:t>
                      </a:r>
                      <a:endParaRPr lang="ru-RU" sz="1200" b="1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58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34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21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13400,00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2000,00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</a:rPr>
                        <a:t>2,49</a:t>
                      </a:r>
                      <a:endParaRPr lang="ru-RU" sz="1200" b="1" i="0" u="none" strike="noStrike" dirty="0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772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200</a:t>
                      </a:r>
                      <a:endParaRPr lang="ru-RU" sz="1200" b="1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38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24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16630,00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2000,00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2,00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772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220</a:t>
                      </a:r>
                      <a:endParaRPr lang="ru-RU" sz="1200" b="1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42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26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20080,00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2000,00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1,66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772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240</a:t>
                      </a:r>
                      <a:endParaRPr lang="ru-RU" sz="1200" b="1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46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28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23800,00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2000,00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1,40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772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260</a:t>
                      </a:r>
                      <a:endParaRPr lang="ru-RU" sz="1200" b="1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50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31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28400,00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2000,00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</a:rPr>
                        <a:t>1,17</a:t>
                      </a:r>
                      <a:endParaRPr lang="ru-RU" sz="1200" b="1" i="0" u="none" strike="noStrike" dirty="0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6922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300</a:t>
                      </a:r>
                      <a:endParaRPr lang="ru-RU" sz="1200" b="1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58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36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38170,00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2000,00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</a:rPr>
                        <a:t>0,87</a:t>
                      </a:r>
                      <a:endParaRPr lang="ru-RU" sz="1200" b="1" i="0" u="none" strike="noStrike" dirty="0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772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340</a:t>
                      </a:r>
                      <a:endParaRPr lang="ru-RU" sz="1200" b="1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41</a:t>
                      </a:r>
                      <a:endParaRPr lang="ru-RU" sz="1200" b="1" i="0" u="none" strike="noStrike">
                        <a:solidFill>
                          <a:srgbClr val="0000FF"/>
                        </a:solidFill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49000,00</a:t>
                      </a:r>
                      <a:endParaRPr lang="ru-RU" sz="1200" b="0" i="0" u="none" strike="noStrike">
                        <a:effectLst/>
                        <a:latin typeface="Times New Roman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2000,00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60,00</a:t>
                      </a:r>
                      <a:endParaRPr lang="ru-RU" sz="1200" b="0" i="0" u="none" strike="noStrike"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</a:rPr>
                        <a:t>0,68</a:t>
                      </a:r>
                      <a:endParaRPr lang="ru-RU" sz="1200" b="1" i="0" u="none" strike="noStrike" dirty="0">
                        <a:solidFill>
                          <a:srgbClr val="0000FF"/>
                        </a:solidFill>
                        <a:effectLst/>
                        <a:latin typeface="Arial Cyr"/>
                      </a:endParaRPr>
                    </a:p>
                  </a:txBody>
                  <a:tcPr marL="6332" marR="6332" marT="63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0800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" y="2095500"/>
            <a:ext cx="893445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7609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664" name="Group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046932"/>
              </p:ext>
            </p:extLst>
          </p:nvPr>
        </p:nvGraphicFramePr>
        <p:xfrm>
          <a:off x="251520" y="1988840"/>
          <a:ext cx="8770633" cy="2530060"/>
        </p:xfrm>
        <a:graphic>
          <a:graphicData uri="http://schemas.openxmlformats.org/drawingml/2006/table">
            <a:tbl>
              <a:tblPr/>
              <a:tblGrid>
                <a:gridCol w="564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6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5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5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97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04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72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36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965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729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138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250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7781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8230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</a:t>
                      </a:r>
                      <a:endParaRPr kumimoji="0" lang="ru-RU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</a:t>
                      </a:r>
                      <a:endParaRPr kumimoji="0" lang="en-US" sz="14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Число сателлитов</a:t>
                      </a:r>
                      <a:endParaRPr kumimoji="0" lang="ru-RU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Угол наклона зубьев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  <a:r>
                        <a:rPr kumimoji="0" lang="ru-RU" sz="14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МЦК</a:t>
                      </a:r>
                      <a:endParaRPr kumimoji="0" lang="ru-RU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r>
                        <a:rPr kumimoji="0" lang="ru-RU" sz="1400" b="1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МЦК</a:t>
                      </a:r>
                      <a:endParaRPr kumimoji="0" lang="ru-RU" sz="1400" b="1" i="0" u="none" strike="noStrike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  <a:r>
                        <a:rPr kumimoji="0" lang="ru-RU" sz="1400" b="1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ст</a:t>
                      </a:r>
                      <a:endParaRPr kumimoji="0" lang="ru-RU" sz="14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r>
                        <a:rPr kumimoji="0" lang="ru-RU" sz="1400" b="1" i="1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сат</a:t>
                      </a:r>
                      <a:endParaRPr kumimoji="0" lang="ru-RU" sz="14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  <a:r>
                        <a:rPr kumimoji="0" lang="ru-RU" sz="14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БЦК</a:t>
                      </a:r>
                      <a:endParaRPr kumimoji="0" lang="ru-RU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r>
                        <a:rPr kumimoji="0" lang="ru-RU" sz="1400" b="1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БЦК</a:t>
                      </a:r>
                      <a:endParaRPr kumimoji="0" lang="ru-RU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en-US" sz="14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w</a:t>
                      </a: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kumimoji="0" lang="ru-RU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мм</a:t>
                      </a:r>
                      <a:endParaRPr kumimoji="0" 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r>
                        <a:rPr kumimoji="0" lang="ru-RU" sz="14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мцк</a:t>
                      </a:r>
                      <a:r>
                        <a:rPr kumimoji="0" lang="ru-RU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мм</a:t>
                      </a:r>
                      <a:endParaRPr kumimoji="0" 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r>
                        <a:rPr kumimoji="0" lang="ru-RU" sz="14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бцк</a:t>
                      </a:r>
                      <a:r>
                        <a:rPr kumimoji="0" lang="ru-RU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мм</a:t>
                      </a:r>
                      <a:endParaRPr kumimoji="0" 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763</a:t>
                      </a:r>
                      <a:endParaRPr kumimoji="0" lang="ru-RU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2,50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1,25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71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0,3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53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0,3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177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0,9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88</a:t>
                      </a: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</a:t>
                      </a: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21</a:t>
                      </a: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</a:t>
                      </a: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034</a:t>
                      </a:r>
                      <a:endParaRPr kumimoji="0" 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1,96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1,25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69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,3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33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0,3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135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0,9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86,25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168,75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62</a:t>
                      </a:r>
                      <a:r>
                        <a:rPr kumimoji="0" lang="ru-RU" sz="1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endParaRPr kumimoji="0" lang="ru-RU" sz="1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2,50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1,25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63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0,3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47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0,3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157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0,9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22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78,75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196,25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kumimoji="0" lang="ru-RU" sz="1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ru-RU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1,60 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1,25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97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0,3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29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0,3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155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0,9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121,25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193,75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6236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0" y="1171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02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4108213"/>
              </p:ext>
            </p:extLst>
          </p:nvPr>
        </p:nvGraphicFramePr>
        <p:xfrm>
          <a:off x="179388" y="260350"/>
          <a:ext cx="7993062" cy="608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12" name="Точечный рисунок" r:id="rId3" imgW="7887801" imgH="6001588" progId="Paint.Picture">
                  <p:embed/>
                </p:oleObj>
              </mc:Choice>
              <mc:Fallback>
                <p:oleObj name="Точечный рисунок" r:id="rId3" imgW="7887801" imgH="600158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260350"/>
                        <a:ext cx="7993062" cy="6081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4108213"/>
              </p:ext>
            </p:extLst>
          </p:nvPr>
        </p:nvGraphicFramePr>
        <p:xfrm>
          <a:off x="179512" y="260648"/>
          <a:ext cx="7993062" cy="608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13" name="Точечный рисунок" r:id="rId5" imgW="7887801" imgH="6001588" progId="Paint.Picture">
                  <p:embed/>
                </p:oleObj>
              </mc:Choice>
              <mc:Fallback>
                <p:oleObj name="Точечный рисунок" r:id="rId5" imgW="7887801" imgH="600158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260648"/>
                        <a:ext cx="7993062" cy="6081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98705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1591"/>
            <a:ext cx="7704855" cy="6838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8589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0" y="1171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179388" y="260350"/>
          <a:ext cx="7993062" cy="608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22" name="Точечный рисунок" r:id="rId3" imgW="7887801" imgH="6001588" progId="Paint.Picture">
                  <p:embed/>
                </p:oleObj>
              </mc:Choice>
              <mc:Fallback>
                <p:oleObj name="Точечный рисунок" r:id="rId3" imgW="7887801" imgH="600158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260350"/>
                        <a:ext cx="7993062" cy="6081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18305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56" y="485729"/>
            <a:ext cx="8510016" cy="5895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7638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386" y="373188"/>
            <a:ext cx="8360070" cy="6224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1808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32323"/>
            <a:ext cx="8352928" cy="6393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8590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38" y="1124744"/>
            <a:ext cx="8848984" cy="4536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7291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" y="1695450"/>
            <a:ext cx="8782050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5623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575298"/>
            <a:ext cx="8689589" cy="3312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9460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4fc55c4ec85cea2ce3b64f782a562b4ae733ff"/>
</p:tagLst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7802</TotalTime>
  <Words>1399</Words>
  <Application>Microsoft Office PowerPoint</Application>
  <PresentationFormat>Экран (4:3)</PresentationFormat>
  <Paragraphs>841</Paragraphs>
  <Slides>148</Slides>
  <Notes>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5</vt:i4>
      </vt:variant>
      <vt:variant>
        <vt:lpstr>Заголовки слайдов</vt:lpstr>
      </vt:variant>
      <vt:variant>
        <vt:i4>148</vt:i4>
      </vt:variant>
    </vt:vector>
  </HeadingPairs>
  <TitlesOfParts>
    <vt:vector size="163" baseType="lpstr">
      <vt:lpstr>Arial</vt:lpstr>
      <vt:lpstr>Arial Cyr</vt:lpstr>
      <vt:lpstr>Calibri</vt:lpstr>
      <vt:lpstr>Cambria Math</vt:lpstr>
      <vt:lpstr>Garamond</vt:lpstr>
      <vt:lpstr>Symbol</vt:lpstr>
      <vt:lpstr>Tahoma</vt:lpstr>
      <vt:lpstr>Times New Roman</vt:lpstr>
      <vt:lpstr>Trebuchet MS</vt:lpstr>
      <vt:lpstr>Оформление по умолчанию</vt:lpstr>
      <vt:lpstr>Image</vt:lpstr>
      <vt:lpstr>Bitmap Image</vt:lpstr>
      <vt:lpstr>Equation</vt:lpstr>
      <vt:lpstr>Точечный рисунок</vt:lpstr>
      <vt:lpstr>CorelPhotoPaint.Image.11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KATE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Haritonov</dc:creator>
  <cp:lastModifiedBy>Ivan</cp:lastModifiedBy>
  <cp:revision>121</cp:revision>
  <dcterms:created xsi:type="dcterms:W3CDTF">2010-02-10T07:46:48Z</dcterms:created>
  <dcterms:modified xsi:type="dcterms:W3CDTF">2025-12-02T15:47:05Z</dcterms:modified>
</cp:coreProperties>
</file>